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72" r:id="rId6"/>
    <p:sldId id="259" r:id="rId7"/>
    <p:sldId id="260" r:id="rId8"/>
    <p:sldId id="268" r:id="rId9"/>
    <p:sldId id="279" r:id="rId10"/>
    <p:sldId id="271" r:id="rId11"/>
    <p:sldId id="270" r:id="rId12"/>
    <p:sldId id="280" r:id="rId13"/>
    <p:sldId id="269" r:id="rId14"/>
    <p:sldId id="273" r:id="rId15"/>
    <p:sldId id="276" r:id="rId16"/>
    <p:sldId id="275" r:id="rId17"/>
    <p:sldId id="274" r:id="rId18"/>
    <p:sldId id="292" r:id="rId19"/>
    <p:sldId id="277" r:id="rId20"/>
    <p:sldId id="295" r:id="rId21"/>
    <p:sldId id="296" r:id="rId22"/>
    <p:sldId id="297" r:id="rId23"/>
    <p:sldId id="299" r:id="rId24"/>
    <p:sldId id="331" r:id="rId25"/>
    <p:sldId id="294" r:id="rId26"/>
    <p:sldId id="300" r:id="rId27"/>
    <p:sldId id="301" r:id="rId28"/>
    <p:sldId id="330" r:id="rId29"/>
    <p:sldId id="278" r:id="rId30"/>
    <p:sldId id="293" r:id="rId31"/>
    <p:sldId id="302" r:id="rId32"/>
    <p:sldId id="309" r:id="rId33"/>
    <p:sldId id="308" r:id="rId34"/>
    <p:sldId id="312" r:id="rId35"/>
    <p:sldId id="311" r:id="rId36"/>
    <p:sldId id="313" r:id="rId37"/>
    <p:sldId id="314" r:id="rId38"/>
    <p:sldId id="329" r:id="rId39"/>
    <p:sldId id="328" r:id="rId40"/>
    <p:sldId id="315" r:id="rId41"/>
    <p:sldId id="318" r:id="rId42"/>
    <p:sldId id="316" r:id="rId43"/>
    <p:sldId id="317" r:id="rId44"/>
    <p:sldId id="322" r:id="rId45"/>
    <p:sldId id="320" r:id="rId46"/>
    <p:sldId id="323" r:id="rId47"/>
    <p:sldId id="324" r:id="rId48"/>
    <p:sldId id="325" r:id="rId49"/>
    <p:sldId id="326" r:id="rId50"/>
    <p:sldId id="327" r:id="rId51"/>
    <p:sldId id="361" r:id="rId52"/>
    <p:sldId id="363" r:id="rId53"/>
    <p:sldId id="365" r:id="rId54"/>
    <p:sldId id="366" r:id="rId55"/>
    <p:sldId id="367" r:id="rId56"/>
    <p:sldId id="368" r:id="rId57"/>
    <p:sldId id="369" r:id="rId58"/>
    <p:sldId id="371" r:id="rId59"/>
    <p:sldId id="262" r:id="rId6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95C"/>
    <a:srgbClr val="705DAD"/>
    <a:srgbClr val="318BFF"/>
    <a:srgbClr val="5C33AE"/>
    <a:srgbClr val="FFDADF"/>
    <a:srgbClr val="E5000E"/>
    <a:srgbClr val="0065EC"/>
    <a:srgbClr val="FF5100"/>
    <a:srgbClr val="9DF9F3"/>
    <a:srgbClr val="6DE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5"/>
    <p:restoredTop sz="94674"/>
  </p:normalViewPr>
  <p:slideViewPr>
    <p:cSldViewPr snapToGrid="0" snapToObjects="1">
      <p:cViewPr>
        <p:scale>
          <a:sx n="113" d="100"/>
          <a:sy n="113" d="100"/>
        </p:scale>
        <p:origin x="14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001BF-C3D8-C541-A15B-C8687E2FDC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CAC9-7A58-F740-89F0-9DAA4F4EA55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86392-9C0A-8744-9D76-602BF39BAE4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F2F74-1721-6943-AD14-278FD81D141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1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5.png"/><Relationship Id="rId1" Type="http://schemas.openxmlformats.org/officeDocument/2006/relationships/image" Target="../media/image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2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8.png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1" Type="http://schemas.openxmlformats.org/officeDocument/2006/relationships/image" Target="../media/image2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2.png"/><Relationship Id="rId2" Type="http://schemas.openxmlformats.org/officeDocument/2006/relationships/tags" Target="../tags/tag3.xml"/><Relationship Id="rId1" Type="http://schemas.openxmlformats.org/officeDocument/2006/relationships/image" Target="../media/image2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16492" y="2223592"/>
            <a:ext cx="4559644" cy="1906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S-B-GB" charset="-122"/>
              </a:rPr>
              <a:t>CHD_ACM </a:t>
            </a:r>
            <a:r>
              <a:rPr kumimoji="1" lang="zh-CN" altLang="en-US" sz="28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S-B-GB" charset="-122"/>
              </a:rPr>
              <a:t>第二次讲课</a:t>
            </a:r>
            <a:endParaRPr kumimoji="1" lang="en-US" altLang="zh-CN" sz="28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FZLanTingHeiS-B-GB" charset="-122"/>
            </a:endParaRPr>
          </a:p>
          <a:p>
            <a:pPr algn="ctr"/>
            <a:endParaRPr kumimoji="1" lang="en-US" altLang="zh-CN" dirty="0" smtClean="0">
              <a:solidFill>
                <a:schemeClr val="bg1"/>
              </a:solidFill>
            </a:endParaRPr>
          </a:p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语言基础（二）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kumimoji="1"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  数组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57360" y="5977890"/>
            <a:ext cx="19177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solidFill>
                  <a:schemeClr val="bg1"/>
                </a:solidFill>
              </a:rPr>
              <a:t>author</a:t>
            </a:r>
            <a:r>
              <a:rPr lang="zh-CN" altLang="en-US" sz="2000">
                <a:solidFill>
                  <a:schemeClr val="bg1"/>
                </a:solidFill>
              </a:rPr>
              <a:t>：张琬瑶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195" y="5977890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2020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</a:t>
            </a:r>
            <a:endParaRPr lang="zh-CN" altLang="en-US" sz="2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94523" y="2350113"/>
            <a:ext cx="22053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2000" spc="17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94523" y="2884851"/>
            <a:ext cx="28003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do…while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2000" spc="17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94523" y="3419587"/>
            <a:ext cx="18732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2000" spc="17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4523" y="3954325"/>
            <a:ext cx="31153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循环的嵌套和特点</a:t>
            </a:r>
            <a:endParaRPr kumimoji="1" lang="zh-CN" sz="2000" spc="23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94523" y="4489061"/>
            <a:ext cx="36664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与循环有关的控制语句</a:t>
            </a:r>
            <a:endParaRPr kumimoji="1" lang="zh-CN" sz="2000" spc="23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86224" y="2542188"/>
            <a:ext cx="45719" cy="94027"/>
          </a:xfrm>
          <a:prstGeom prst="rect">
            <a:avLst/>
          </a:prstGeom>
          <a:solidFill>
            <a:srgbClr val="006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086223" y="3076926"/>
            <a:ext cx="45719" cy="9402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086224" y="3611662"/>
            <a:ext cx="45719" cy="94027"/>
          </a:xfrm>
          <a:prstGeom prst="rect">
            <a:avLst/>
          </a:prstGeom>
          <a:solidFill>
            <a:srgbClr val="006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086223" y="4146400"/>
            <a:ext cx="45719" cy="9402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086223" y="4689116"/>
            <a:ext cx="45719" cy="94027"/>
          </a:xfrm>
          <a:prstGeom prst="rect">
            <a:avLst/>
          </a:prstGeom>
          <a:solidFill>
            <a:srgbClr val="006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718057" y="1822776"/>
            <a:ext cx="808074" cy="808074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56290" y="1822776"/>
            <a:ext cx="52344" cy="808074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047115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24102" t="15016" r="45752" b="50000"/>
          <a:stretch>
            <a:fillRect/>
          </a:stretch>
        </p:blipFill>
        <p:spPr>
          <a:xfrm>
            <a:off x="436245" y="1908175"/>
            <a:ext cx="5268595" cy="3439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142" t="5806" r="52109" b="43182"/>
          <a:stretch>
            <a:fillRect/>
          </a:stretch>
        </p:blipFill>
        <p:spPr>
          <a:xfrm>
            <a:off x="5964555" y="1988820"/>
            <a:ext cx="6017260" cy="33585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1560" y="789305"/>
            <a:ext cx="49129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多次输出？</a:t>
            </a:r>
            <a:endParaRPr lang="zh-CN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while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52930" y="1564005"/>
            <a:ext cx="82956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while 循环的执行顺序非常简单，它的格式是： 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执行过程：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）计算表达式的值。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）若表达式的值为真，则执行循环体，然后重复（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）。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3</a:t>
            </a:r>
            <a:r>
              <a:rPr lang="zh-CN" altLang="en-US" sz="2400">
                <a:solidFill>
                  <a:schemeClr val="bg1"/>
                </a:solidFill>
              </a:rPr>
              <a:t>）若表达式的值为假，则</a:t>
            </a:r>
            <a:r>
              <a:rPr lang="en-US" altLang="zh-CN" sz="2400">
                <a:solidFill>
                  <a:schemeClr val="bg1"/>
                </a:solidFill>
              </a:rPr>
              <a:t>while</a:t>
            </a:r>
            <a:r>
              <a:rPr lang="zh-CN" altLang="en-US" sz="2400">
                <a:solidFill>
                  <a:schemeClr val="bg1"/>
                </a:solidFill>
              </a:rPr>
              <a:t>语句结束，执行循环结构的后续语句。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965" y="2200910"/>
            <a:ext cx="4744720" cy="1606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420" y="869950"/>
            <a:ext cx="3101975" cy="3621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>
        <p:random/>
      </p:transition>
    </mc:Choice>
    <mc:Fallback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047115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78000" y="1663065"/>
            <a:ext cx="817054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问题：求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1~100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的累加和。</a:t>
            </a:r>
            <a:endParaRPr lang="zh-CN" altLang="en-US" sz="2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除了用公式（</a:t>
            </a:r>
            <a:r>
              <a:rPr lang="en-US" altLang="zh-CN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1+100</a:t>
            </a: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*100/2</a:t>
            </a: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外，如何简单求和？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首先设置一个累计器sum，其初值为0，利用 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sum=sum+i </a:t>
            </a: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来计算(i依次取1、2、..... 100)，只要解决以下3个问题即可: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(1)将i的初值置为1;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(2)每执行1次“sum= sum+ i”后，i增1;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(3)当</a:t>
            </a:r>
            <a:r>
              <a:rPr lang="en-US" altLang="zh-CN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增到101时，停止计算。此时，sum的值就是1~100的累计和。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047115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6315" y="1590040"/>
            <a:ext cx="3804285" cy="42297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965" y="2712720"/>
            <a:ext cx="6487795" cy="19850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2005" y="450215"/>
            <a:ext cx="370586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问题：求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1~100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的累加和。</a:t>
            </a:r>
            <a:endParaRPr lang="zh-CN" altLang="en-US" sz="2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2400"/>
              <a:t>：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do…while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52930" y="1564005"/>
            <a:ext cx="82956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do…</a:t>
            </a:r>
            <a:r>
              <a:rPr lang="zh-CN" altLang="en-US" sz="2400">
                <a:solidFill>
                  <a:schemeClr val="bg1"/>
                </a:solidFill>
              </a:rPr>
              <a:t>while 循环的格式如下所示： 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注意，while 后面的分号千万不能省略。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执行过程：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）执行循环体语句。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）计算表达式。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）若表达式的值为真，则执行（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）；若表达式的值为假，则</a:t>
            </a:r>
            <a:r>
              <a:rPr lang="en-US" altLang="zh-CN" sz="2400">
                <a:solidFill>
                  <a:schemeClr val="bg1"/>
                </a:solidFill>
              </a:rPr>
              <a:t>do…while</a:t>
            </a:r>
            <a:r>
              <a:rPr lang="zh-CN" altLang="en-US" sz="2400">
                <a:solidFill>
                  <a:schemeClr val="bg1"/>
                </a:solidFill>
              </a:rPr>
              <a:t>语句结束，执行循环结构的后续语句。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585" y="297815"/>
            <a:ext cx="2557145" cy="4663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995" y="2174875"/>
            <a:ext cx="3070860" cy="1298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442085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do…while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" y="1688465"/>
            <a:ext cx="3533140" cy="4029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20" y="2710180"/>
            <a:ext cx="6487795" cy="19850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2005" y="450215"/>
            <a:ext cx="370586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问题：求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1~100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的累加和。</a:t>
            </a:r>
            <a:endParaRPr lang="zh-CN" altLang="en-US" sz="2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2400"/>
              <a:t>：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442085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do…while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51355" y="2179955"/>
            <a:ext cx="794194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do-while循环与while循环的不同在于：它先执行循环中的语句，然后再判断表达式是否为真，如果为真则继续循环；如果为假，则终止循环。因此, do-while循环至少要执行一次循环语句。 简单来讲就是说while循环是先循环后判断。 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for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6385" y="1564005"/>
            <a:ext cx="859218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for</a:t>
            </a:r>
            <a:r>
              <a:rPr lang="zh-CN" altLang="en-US" sz="2400">
                <a:solidFill>
                  <a:schemeClr val="bg1"/>
                </a:solidFill>
              </a:rPr>
              <a:t> 循环的格式如下所示： 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执行过程：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sz="2400">
                <a:solidFill>
                  <a:schemeClr val="bg1"/>
                </a:solidFill>
              </a:rPr>
              <a:t>1) 先执行“表达式1”。</a:t>
            </a:r>
            <a:endParaRPr sz="2400">
              <a:solidFill>
                <a:schemeClr val="bg1"/>
              </a:solidFill>
            </a:endParaRPr>
          </a:p>
          <a:p>
            <a:r>
              <a:rPr lang="zh-CN" sz="2400">
                <a:solidFill>
                  <a:schemeClr val="bg1"/>
                </a:solidFill>
              </a:rPr>
              <a:t>（</a:t>
            </a:r>
            <a:r>
              <a:rPr sz="2400">
                <a:solidFill>
                  <a:schemeClr val="bg1"/>
                </a:solidFill>
              </a:rPr>
              <a:t>2) 再执行“表达式2”，如果它的值为真（非0），则执行循环体，否则结束循环。</a:t>
            </a:r>
            <a:endParaRPr sz="2400">
              <a:solidFill>
                <a:schemeClr val="bg1"/>
              </a:solidFill>
            </a:endParaRPr>
          </a:p>
          <a:p>
            <a:r>
              <a:rPr lang="zh-CN" sz="2400">
                <a:solidFill>
                  <a:schemeClr val="bg1"/>
                </a:solidFill>
              </a:rPr>
              <a:t>（</a:t>
            </a:r>
            <a:r>
              <a:rPr sz="2400">
                <a:solidFill>
                  <a:schemeClr val="bg1"/>
                </a:solidFill>
              </a:rPr>
              <a:t>3) 执行完循环体后再执行“表达式3”。</a:t>
            </a:r>
            <a:endParaRPr sz="2400">
              <a:solidFill>
                <a:schemeClr val="bg1"/>
              </a:solidFill>
            </a:endParaRPr>
          </a:p>
          <a:p>
            <a:r>
              <a:rPr lang="zh-CN" sz="2400">
                <a:solidFill>
                  <a:schemeClr val="bg1"/>
                </a:solidFill>
              </a:rPr>
              <a:t>（</a:t>
            </a:r>
            <a:r>
              <a:rPr sz="2400">
                <a:solidFill>
                  <a:schemeClr val="bg1"/>
                </a:solidFill>
              </a:rPr>
              <a:t>4) 重复执行步骤 2) 和 3)，直到“表达式2”的值为假，就结束循环。</a:t>
            </a:r>
            <a:endParaRPr sz="24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470" y="2247265"/>
            <a:ext cx="3884930" cy="1276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0" y="439420"/>
            <a:ext cx="3060065" cy="377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2296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" y="1835785"/>
            <a:ext cx="4029710" cy="3622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180" y="2710180"/>
            <a:ext cx="6122035" cy="18732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2005" y="450215"/>
            <a:ext cx="370586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问题：求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1~100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的累加和。</a:t>
            </a:r>
            <a:endParaRPr lang="zh-CN" altLang="en-US" sz="24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2400"/>
              <a:t>：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2296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98295" y="795655"/>
            <a:ext cx="8296910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 </a:t>
            </a:r>
            <a:r>
              <a:rPr lang="zh-CN" altLang="en-US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</a:t>
            </a:r>
            <a:r>
              <a:rPr lang="en-US" altLang="zh-CN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for</a:t>
            </a:r>
            <a:r>
              <a:rPr lang="zh-CN" altLang="en-US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语句中省略表达式</a:t>
            </a:r>
            <a:endParaRPr lang="zh-CN" altLang="en-US" sz="28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）省略表达式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，相当于省略了循环的初始条件，应在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语句之前给循环变量赋初值。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090" y="2404745"/>
            <a:ext cx="3956685" cy="3902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2296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47545" y="861695"/>
            <a:ext cx="82969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）省略表达式</a:t>
            </a:r>
            <a:r>
              <a:rPr 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，即不判断循环条件，循环将无休止的进行下去，也就是认为表达式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始终为真，循环成为无限循环。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305" y="2212975"/>
            <a:ext cx="3783965" cy="36302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790" y="2895600"/>
            <a:ext cx="3828415" cy="2538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2296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47545" y="811530"/>
            <a:ext cx="82969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）省略表达式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，则必须在循环体中设法保证循环能正常结束，即有使循环结束的语句。</a:t>
            </a:r>
            <a:endParaRPr 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555" y="1938655"/>
            <a:ext cx="4072255" cy="4072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2296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98295" y="795655"/>
            <a:ext cx="8296910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 </a:t>
            </a:r>
            <a:r>
              <a:rPr lang="zh-CN" altLang="en-US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</a:t>
            </a:r>
            <a:r>
              <a:rPr lang="en-US" altLang="zh-CN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for</a:t>
            </a:r>
            <a:r>
              <a:rPr lang="zh-CN" altLang="en-US" sz="28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语句中使用逗号表达式</a:t>
            </a:r>
            <a:endParaRPr lang="zh-CN" altLang="en-US" sz="28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和表达式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既可以是一个简单表达式，也可以是逗号表达式。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95" y="2466340"/>
            <a:ext cx="4932045" cy="344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循环的嵌套和特点</a:t>
            </a:r>
            <a:endParaRPr kumimoji="1" lang="zh-CN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25905" y="2228850"/>
            <a:ext cx="85921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>
                <a:solidFill>
                  <a:schemeClr val="bg1"/>
                </a:solidFill>
              </a:rPr>
              <a:t>一个循环体内又包含另一个完整的循环结构称为循环的嵌套。在内嵌的循环还可以嵌套循环，这就是多重循环。</a:t>
            </a:r>
            <a:endParaRPr lang="zh-CN" sz="2400">
              <a:solidFill>
                <a:schemeClr val="bg1"/>
              </a:solidFill>
            </a:endParaRPr>
          </a:p>
          <a:p>
            <a:r>
              <a:rPr lang="zh-CN" sz="2400">
                <a:solidFill>
                  <a:schemeClr val="bg1"/>
                </a:solidFill>
              </a:rPr>
              <a:t>在设计多重循环时，要注意以下几点：</a:t>
            </a:r>
            <a:endParaRPr lang="zh-CN" sz="2400">
              <a:solidFill>
                <a:schemeClr val="bg1"/>
              </a:solidFill>
            </a:endParaRPr>
          </a:p>
          <a:p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1. </a:t>
            </a:r>
            <a:r>
              <a:rPr lang="zh-CN" altLang="en-US" sz="2400">
                <a:solidFill>
                  <a:schemeClr val="bg1"/>
                </a:solidFill>
              </a:rPr>
              <a:t>循环嵌套时，要在一个循环体内包含另一个完整的循环结构。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2. </a:t>
            </a:r>
            <a:r>
              <a:rPr lang="zh-CN" altLang="en-US" sz="2400">
                <a:solidFill>
                  <a:schemeClr val="bg1"/>
                </a:solidFill>
              </a:rPr>
              <a:t>使用复合语句，以保证逻辑上的正确性。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3. </a:t>
            </a:r>
            <a:r>
              <a:rPr lang="zh-CN" altLang="en-US" sz="2400">
                <a:solidFill>
                  <a:schemeClr val="bg1"/>
                </a:solidFill>
              </a:rPr>
              <a:t>内层和外层循环控制变量不能同名，以免造成混乱。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4. </a:t>
            </a:r>
            <a:r>
              <a:rPr lang="zh-CN" altLang="en-US" sz="2400">
                <a:solidFill>
                  <a:schemeClr val="bg1"/>
                </a:solidFill>
              </a:rPr>
              <a:t>采用右缩进格式书写，以保证层次的清晰性。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6052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循环的嵌套和特点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120" y="2272030"/>
            <a:ext cx="6207760" cy="3608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12745" y="953770"/>
            <a:ext cx="6287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编写程序，输出阶梯式的乘法口诀表。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6052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循环的嵌套和特点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1946910"/>
            <a:ext cx="8771255" cy="29641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6052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循环的嵌套和特点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32025" y="1721485"/>
            <a:ext cx="78790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3</a:t>
            </a:r>
            <a:r>
              <a:rPr lang="zh-CN" altLang="en-US" sz="2400">
                <a:solidFill>
                  <a:schemeClr val="bg1"/>
                </a:solidFill>
              </a:rPr>
              <a:t>种</a:t>
            </a:r>
            <a:r>
              <a:rPr lang="zh-CN" altLang="en-US" sz="2400">
                <a:solidFill>
                  <a:schemeClr val="bg1"/>
                </a:solidFill>
              </a:rPr>
              <a:t>循环语句的共同特点如下。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）当循环控制条件非零时执行循环体语句，否则终止循环。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）语句可以是任何语句，简单语句、复合语句、空语句均可。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3</a:t>
            </a:r>
            <a:r>
              <a:rPr lang="zh-CN" altLang="en-US" sz="2400">
                <a:solidFill>
                  <a:schemeClr val="bg1"/>
                </a:solidFill>
              </a:rPr>
              <a:t>）在循环体内或循环条件中必须有使循环结束的语句，否则会出现死循环。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（</a:t>
            </a:r>
            <a:r>
              <a:rPr lang="en-US" altLang="zh-CN" sz="2400">
                <a:solidFill>
                  <a:schemeClr val="bg1"/>
                </a:solidFill>
              </a:rPr>
              <a:t>4</a:t>
            </a:r>
            <a:r>
              <a:rPr lang="zh-CN" altLang="en-US" sz="2400">
                <a:solidFill>
                  <a:schemeClr val="bg1"/>
                </a:solidFill>
              </a:rPr>
              <a:t>）在循环体中可以用</a:t>
            </a:r>
            <a:r>
              <a:rPr lang="en-US" altLang="zh-CN" sz="2400">
                <a:solidFill>
                  <a:schemeClr val="bg1"/>
                </a:solidFill>
              </a:rPr>
              <a:t>break</a:t>
            </a:r>
            <a:r>
              <a:rPr lang="zh-CN" altLang="en-US" sz="2400">
                <a:solidFill>
                  <a:schemeClr val="bg1"/>
                </a:solidFill>
              </a:rPr>
              <a:t>语句跳出整个循环或用</a:t>
            </a:r>
            <a:r>
              <a:rPr lang="en-US" altLang="zh-CN" sz="2400">
                <a:solidFill>
                  <a:schemeClr val="bg1"/>
                </a:solidFill>
              </a:rPr>
              <a:t>continue</a:t>
            </a:r>
            <a:r>
              <a:rPr lang="zh-CN" altLang="en-US" sz="2400">
                <a:solidFill>
                  <a:schemeClr val="bg1"/>
                </a:solidFill>
              </a:rPr>
              <a:t>语句结束本次循环。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与循环有关的控制语句</a:t>
            </a:r>
            <a:endParaRPr kumimoji="1" lang="zh-CN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2450" y="2275205"/>
            <a:ext cx="82956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/>
                </a:solidFill>
              </a:rPr>
              <a:t>1. break</a:t>
            </a:r>
            <a:r>
              <a:rPr lang="zh-CN" altLang="en-US" sz="2400">
                <a:solidFill>
                  <a:schemeClr val="bg1"/>
                </a:solidFill>
              </a:rPr>
              <a:t>语句。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用于循环语句中，其作用是从循环体内跳出循环体，即提前结束循环。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960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与循环有关的控制语句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60" y="682625"/>
            <a:ext cx="8794115" cy="5492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960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与循环有关的控制语句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70" y="621030"/>
            <a:ext cx="4053840" cy="56159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2044065"/>
            <a:ext cx="3670300" cy="2974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960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与循环有关的控制语句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48180" y="899160"/>
            <a:ext cx="8295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在switch语句中使流程跳出switch结构。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225" y="2382520"/>
            <a:ext cx="6120765" cy="3624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960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与循环有关的控制语句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48180" y="1910715"/>
            <a:ext cx="82956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chemeClr val="bg1"/>
                </a:solidFill>
              </a:rPr>
              <a:t>2. continue</a:t>
            </a:r>
            <a:r>
              <a:rPr lang="zh-CN" altLang="en-US" sz="2400">
                <a:solidFill>
                  <a:schemeClr val="bg1"/>
                </a:solidFill>
              </a:rPr>
              <a:t>语句。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只能用在循环体中，其功能是结束本次循环，即跳过循环体中在</a:t>
            </a:r>
            <a:r>
              <a:rPr lang="en-US" altLang="zh-CN" sz="2400">
                <a:solidFill>
                  <a:schemeClr val="bg1"/>
                </a:solidFill>
              </a:rPr>
              <a:t>continue</a:t>
            </a:r>
            <a:r>
              <a:rPr lang="zh-CN" altLang="en-US" sz="2400">
                <a:solidFill>
                  <a:schemeClr val="bg1"/>
                </a:solidFill>
              </a:rPr>
              <a:t>语句之后的其他语句，接着进行下一次是否执行循环的判定。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960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与循环有关的控制语句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15" y="667385"/>
            <a:ext cx="8371205" cy="55238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960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与循环有关的控制语句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440" y="793115"/>
            <a:ext cx="3913505" cy="55962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90" y="1968500"/>
            <a:ext cx="2948305" cy="3658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补充内容</a:t>
            </a:r>
            <a:endParaRPr kumimoji="1" lang="zh-CN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5685" y="339725"/>
            <a:ext cx="78054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做题时，如果要输入多组测试数据，怎么办？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例：第一行输入一个整数</a:t>
            </a:r>
            <a:r>
              <a:rPr lang="en-US" altLang="zh-CN" sz="2400">
                <a:solidFill>
                  <a:schemeClr val="bg1"/>
                </a:solidFill>
              </a:rPr>
              <a:t>t</a:t>
            </a:r>
            <a:r>
              <a:rPr lang="zh-CN" altLang="en-US" sz="2400">
                <a:solidFill>
                  <a:schemeClr val="bg1"/>
                </a:solidFill>
              </a:rPr>
              <a:t>，表示有</a:t>
            </a:r>
            <a:r>
              <a:rPr lang="en-US" altLang="zh-CN" sz="2400">
                <a:solidFill>
                  <a:schemeClr val="bg1"/>
                </a:solidFill>
              </a:rPr>
              <a:t>t</a:t>
            </a:r>
            <a:r>
              <a:rPr lang="zh-CN" altLang="en-US" sz="2400">
                <a:solidFill>
                  <a:schemeClr val="bg1"/>
                </a:solidFill>
              </a:rPr>
              <a:t>组测试用例，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下面</a:t>
            </a:r>
            <a:r>
              <a:rPr lang="en-US" altLang="zh-CN" sz="2400">
                <a:solidFill>
                  <a:schemeClr val="bg1"/>
                </a:solidFill>
              </a:rPr>
              <a:t>t</a:t>
            </a:r>
            <a:r>
              <a:rPr lang="zh-CN" altLang="en-US" sz="2400">
                <a:solidFill>
                  <a:schemeClr val="bg1"/>
                </a:solidFill>
              </a:rPr>
              <a:t>行，每行输入两个整数</a:t>
            </a:r>
            <a:r>
              <a:rPr lang="en-US" altLang="zh-CN" sz="2400">
                <a:solidFill>
                  <a:schemeClr val="bg1"/>
                </a:solidFill>
              </a:rPr>
              <a:t>a</a:t>
            </a:r>
            <a:r>
              <a:rPr lang="zh-CN" altLang="en-US" sz="2400">
                <a:solidFill>
                  <a:schemeClr val="bg1"/>
                </a:solidFill>
              </a:rPr>
              <a:t>和</a:t>
            </a:r>
            <a:r>
              <a:rPr lang="en-US" altLang="zh-CN" sz="2400">
                <a:solidFill>
                  <a:schemeClr val="bg1"/>
                </a:solidFill>
              </a:rPr>
              <a:t>b</a:t>
            </a:r>
            <a:r>
              <a:rPr lang="zh-CN" altLang="en-US" sz="2400">
                <a:solidFill>
                  <a:schemeClr val="bg1"/>
                </a:solidFill>
              </a:rPr>
              <a:t>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输出</a:t>
            </a:r>
            <a:r>
              <a:rPr lang="en-US" altLang="zh-CN" sz="2400">
                <a:solidFill>
                  <a:schemeClr val="bg1"/>
                </a:solidFill>
              </a:rPr>
              <a:t>a+b</a:t>
            </a:r>
            <a:r>
              <a:rPr lang="zh-CN" altLang="en-US" sz="2400">
                <a:solidFill>
                  <a:schemeClr val="bg1"/>
                </a:solidFill>
              </a:rPr>
              <a:t>的结果，每组测试用例占一行。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40" y="2277745"/>
            <a:ext cx="3964940" cy="38341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2523490"/>
            <a:ext cx="4220210" cy="3342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补充内容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6030" y="1112520"/>
            <a:ext cx="7140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如果不输入测试数据的组数</a:t>
            </a:r>
            <a:r>
              <a:rPr lang="en-US" altLang="zh-CN" sz="2400">
                <a:solidFill>
                  <a:schemeClr val="bg1"/>
                </a:solidFill>
              </a:rPr>
              <a:t>t</a:t>
            </a:r>
            <a:r>
              <a:rPr lang="zh-CN" altLang="en-US" sz="2400">
                <a:solidFill>
                  <a:schemeClr val="bg1"/>
                </a:solidFill>
              </a:rPr>
              <a:t>，让你一直测试下去呢？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" y="1991360"/>
            <a:ext cx="5547360" cy="3126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991360"/>
            <a:ext cx="4239260" cy="332359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05740" y="528955"/>
            <a:ext cx="3453765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ACM</a:t>
            </a:r>
            <a:r>
              <a:rPr lang="zh-CN" altLang="en-US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输入</a:t>
            </a:r>
            <a:endParaRPr lang="zh-CN" altLang="en-US" sz="32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94523" y="2350113"/>
            <a:ext cx="28397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数组的基本概念</a:t>
            </a:r>
            <a:endParaRPr kumimoji="1" lang="zh-CN" sz="2000" spc="17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94523" y="2884851"/>
            <a:ext cx="20129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一维数组</a:t>
            </a:r>
            <a:endParaRPr kumimoji="1" lang="zh-CN" sz="2000" spc="17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94523" y="3419587"/>
            <a:ext cx="20129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二维数组</a:t>
            </a:r>
            <a:endParaRPr kumimoji="1" lang="zh-CN" sz="2000" spc="17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94523" y="3954325"/>
            <a:ext cx="20129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1" 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字符数组</a:t>
            </a:r>
            <a:endParaRPr kumimoji="1" lang="zh-CN" sz="2000" spc="23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94523" y="4489061"/>
            <a:ext cx="28397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kumimoji="1" lang="en-US" altLang="zh-CN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kumimoji="1" lang="zh-CN" altLang="en-US" sz="2000" spc="17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字符串处理函数</a:t>
            </a:r>
            <a:endParaRPr kumimoji="1" lang="zh-CN" sz="2000" spc="23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86224" y="2542188"/>
            <a:ext cx="45719" cy="94027"/>
          </a:xfrm>
          <a:prstGeom prst="rect">
            <a:avLst/>
          </a:prstGeom>
          <a:solidFill>
            <a:srgbClr val="006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086223" y="3076926"/>
            <a:ext cx="45719" cy="9402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086224" y="3611662"/>
            <a:ext cx="45719" cy="94027"/>
          </a:xfrm>
          <a:prstGeom prst="rect">
            <a:avLst/>
          </a:prstGeom>
          <a:solidFill>
            <a:srgbClr val="006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086223" y="4146400"/>
            <a:ext cx="45719" cy="9402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6086223" y="4689116"/>
            <a:ext cx="45719" cy="94027"/>
          </a:xfrm>
          <a:prstGeom prst="rect">
            <a:avLst/>
          </a:prstGeom>
          <a:solidFill>
            <a:srgbClr val="006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718057" y="1822776"/>
            <a:ext cx="808074" cy="808074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数组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56290" y="1822776"/>
            <a:ext cx="52344" cy="808074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数组的基本概念</a:t>
            </a:r>
            <a:endParaRPr kumimoji="1" lang="zh-CN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9285" y="1877060"/>
            <a:ext cx="82188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【引例】输入</a:t>
            </a:r>
            <a:r>
              <a:rPr lang="en-US" altLang="zh-CN" sz="2400">
                <a:solidFill>
                  <a:schemeClr val="bg1"/>
                </a:solidFill>
              </a:rPr>
              <a:t>10</a:t>
            </a:r>
            <a:r>
              <a:rPr lang="zh-CN" altLang="en-US" sz="2400">
                <a:solidFill>
                  <a:schemeClr val="bg1"/>
                </a:solidFill>
              </a:rPr>
              <a:t>个学生某门课的成绩，计算平均分，并统计低于平均分的人数。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方法一：定义</a:t>
            </a:r>
            <a:r>
              <a:rPr lang="en-US" altLang="zh-CN" sz="2400">
                <a:solidFill>
                  <a:schemeClr val="bg1"/>
                </a:solidFill>
              </a:rPr>
              <a:t>10</a:t>
            </a:r>
            <a:r>
              <a:rPr lang="zh-CN" altLang="en-US" sz="2400">
                <a:solidFill>
                  <a:schemeClr val="bg1"/>
                </a:solidFill>
              </a:rPr>
              <a:t>个变量来存储这</a:t>
            </a:r>
            <a:r>
              <a:rPr lang="en-US" altLang="zh-CN" sz="2400">
                <a:solidFill>
                  <a:schemeClr val="bg1"/>
                </a:solidFill>
              </a:rPr>
              <a:t>10</a:t>
            </a:r>
            <a:r>
              <a:rPr lang="zh-CN" altLang="en-US" sz="2400">
                <a:solidFill>
                  <a:schemeClr val="bg1"/>
                </a:solidFill>
              </a:rPr>
              <a:t>个成绩，依次输入</a:t>
            </a:r>
            <a:r>
              <a:rPr lang="en-US" altLang="zh-CN" sz="2400">
                <a:solidFill>
                  <a:schemeClr val="bg1"/>
                </a:solidFill>
              </a:rPr>
              <a:t>10</a:t>
            </a:r>
            <a:r>
              <a:rPr lang="zh-CN" altLang="en-US" sz="2400">
                <a:solidFill>
                  <a:schemeClr val="bg1"/>
                </a:solidFill>
              </a:rPr>
              <a:t>个成绩，求得平均分。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255" y="4183380"/>
            <a:ext cx="9127490" cy="1595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4274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数组的基本概念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07335" y="921385"/>
            <a:ext cx="43643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同类元素的集合，称为数组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0" y="1524000"/>
            <a:ext cx="7302500" cy="23780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840" y="4302760"/>
            <a:ext cx="7437120" cy="1802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</a:t>
            </a:r>
            <a:endParaRPr kumimoji="1" lang="zh-CN" altLang="en-US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14905" y="1671320"/>
            <a:ext cx="73621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数组必须先定义，后使用。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我们知道，要想把数据放入内存，必须先要分配内存空间。放入4个整数，就得分配4个int类型的内存空间：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这样，就在内存中分配了4个int类型的内存空间，共 4×4=16 个字节，并为它们起了一个名字，叫a。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例如int a[4]；就定义了一个长度为4的整型数组，名字是a。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570" y="3286125"/>
            <a:ext cx="1978025" cy="475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12925" y="1721485"/>
            <a:ext cx="85661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数组中的每个元素都有一个序号，这个序号从0开始，而不是从我们熟悉的1开始，称为下标（Index）。使用数组元素时，指明下标即可，形式为： 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arrayName 为数组名称，index 为下标。例如，a[0] 表示第0个元素，a[3] 表示第3个元素。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610" y="3115310"/>
            <a:ext cx="2520315" cy="436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35" y="1086485"/>
            <a:ext cx="4034790" cy="36804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55" y="1086485"/>
            <a:ext cx="4117340" cy="22275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635" y="3799840"/>
            <a:ext cx="6266180" cy="21875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2155" y="5356860"/>
            <a:ext cx="4959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注意</a:t>
            </a:r>
            <a:r>
              <a:rPr lang="en-US" altLang="zh-CN" sz="2000">
                <a:solidFill>
                  <a:schemeClr val="bg1"/>
                </a:solidFill>
              </a:rPr>
              <a:t>:  </a:t>
            </a:r>
            <a:r>
              <a:rPr lang="zh-CN" altLang="en-US" sz="2000">
                <a:solidFill>
                  <a:schemeClr val="bg1"/>
                </a:solidFill>
              </a:rPr>
              <a:t>只有在定义数组时才能整体赋值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11275" y="483235"/>
            <a:ext cx="4624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数组赋值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325" y="1019175"/>
            <a:ext cx="5778500" cy="41090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61415" y="1019175"/>
            <a:ext cx="408368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400">
                <a:solidFill>
                  <a:schemeClr val="accent4"/>
                </a:solidFill>
                <a:effectLst/>
              </a:rPr>
              <a:t>一维数组的下标</a:t>
            </a:r>
            <a:endParaRPr lang="zh-CN" altLang="en-US" sz="2400">
              <a:solidFill>
                <a:schemeClr val="accent4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2515" y="2129790"/>
            <a:ext cx="39484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数组的下标实际上是关于数组第一个元素的偏移量。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2515" y="3610610"/>
            <a:ext cx="4478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所以数组元素为  </a:t>
            </a:r>
            <a:r>
              <a:rPr lang="en-US" altLang="zh-CN" sz="2400">
                <a:solidFill>
                  <a:schemeClr val="bg1"/>
                </a:solidFill>
              </a:rPr>
              <a:t>a[0] ~ a[size-1]</a:t>
            </a:r>
            <a:endParaRPr lang="en-US" altLang="zh-CN" sz="240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" y="5366385"/>
            <a:ext cx="9399905" cy="1022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350" y="1957705"/>
            <a:ext cx="4558665" cy="37668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52650" y="858520"/>
            <a:ext cx="45446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输入</a:t>
            </a:r>
            <a:r>
              <a:rPr lang="en-US" altLang="zh-CN" sz="2400">
                <a:solidFill>
                  <a:schemeClr val="bg1"/>
                </a:solidFill>
              </a:rPr>
              <a:t>10</a:t>
            </a:r>
            <a:r>
              <a:rPr lang="zh-CN" altLang="en-US" sz="2400">
                <a:solidFill>
                  <a:schemeClr val="bg1"/>
                </a:solidFill>
              </a:rPr>
              <a:t>个学生的成绩，求平均数。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455" y="2261235"/>
            <a:ext cx="5126990" cy="33464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20800" y="1054100"/>
            <a:ext cx="253746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400">
                <a:solidFill>
                  <a:schemeClr val="accent4"/>
                </a:solidFill>
              </a:rPr>
              <a:t>一维数组的遍历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：</a:t>
            </a:r>
            <a:endParaRPr lang="zh-CN" altLang="en-US" sz="2400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维数组</a:t>
            </a:r>
            <a:endParaRPr kumimoji="1" lang="zh-CN" altLang="en-US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110" y="2555875"/>
            <a:ext cx="5286375" cy="5067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91385" y="1885950"/>
            <a:ext cx="2277745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>
                <a:solidFill>
                  <a:schemeClr val="bg1"/>
                </a:solidFill>
              </a:rPr>
              <a:t>二维数组的定义：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91385" y="3507740"/>
            <a:ext cx="257492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lvl="0" algn="l">
              <a:buClrTx/>
              <a:buSzTx/>
              <a:buFontTx/>
            </a:pPr>
            <a:r>
              <a:rPr lang="zh-CN" altLang="en-US" sz="2000">
                <a:solidFill>
                  <a:schemeClr val="bg1"/>
                </a:solidFill>
                <a:sym typeface="+mn-ea"/>
              </a:rPr>
              <a:t>二维数组的初始化：</a:t>
            </a:r>
            <a:endParaRPr lang="zh-CN" altLang="en-US" sz="20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r="2311"/>
          <a:stretch>
            <a:fillRect/>
          </a:stretch>
        </p:blipFill>
        <p:spPr>
          <a:xfrm>
            <a:off x="2404110" y="4145915"/>
            <a:ext cx="5072380" cy="4648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110" y="4960620"/>
            <a:ext cx="4856480" cy="1127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96335" y="1191260"/>
            <a:ext cx="4797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从键盘中输入每个数组元素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880" y="2249170"/>
            <a:ext cx="5221605" cy="23590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730500" y="5450205"/>
            <a:ext cx="6728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二维数组的赋值和输出一般都要使用二重循环。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675" y="1692275"/>
            <a:ext cx="7952740" cy="6686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0625" y="779780"/>
            <a:ext cx="313245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400">
                <a:solidFill>
                  <a:schemeClr val="bg1"/>
                </a:solidFill>
              </a:rPr>
              <a:t>二维数组的遍历：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970" y="3069590"/>
            <a:ext cx="5264785" cy="2651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字符数组</a:t>
            </a:r>
            <a:endParaRPr kumimoji="1" lang="zh-CN" altLang="en-US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" y="2082800"/>
            <a:ext cx="9980295" cy="43878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49070" y="1574800"/>
            <a:ext cx="354203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>
                <a:solidFill>
                  <a:schemeClr val="bg1"/>
                </a:solidFill>
              </a:rPr>
              <a:t>字符数组的定义和初始化：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0" y="570865"/>
            <a:ext cx="7137400" cy="2452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515" y="3194685"/>
            <a:ext cx="7507605" cy="31127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9595" y="826770"/>
            <a:ext cx="24066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1"/>
                </a:solidFill>
              </a:rPr>
              <a:t>scanf</a:t>
            </a:r>
            <a:r>
              <a:rPr lang="zh-CN" altLang="en-US" sz="2400" b="1">
                <a:solidFill>
                  <a:schemeClr val="bg1"/>
                </a:solidFill>
              </a:rPr>
              <a:t>输入，</a:t>
            </a:r>
            <a:r>
              <a:rPr lang="en-US" altLang="zh-CN" sz="2400" b="1">
                <a:solidFill>
                  <a:schemeClr val="bg1"/>
                </a:solidFill>
              </a:rPr>
              <a:t>printf</a:t>
            </a:r>
            <a:r>
              <a:rPr lang="zh-CN" altLang="en-US" sz="2400" b="1">
                <a:solidFill>
                  <a:schemeClr val="bg1"/>
                </a:solidFill>
              </a:rPr>
              <a:t>输出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7900" y="811530"/>
            <a:ext cx="6254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getchar 输入，putchar 输出</a:t>
            </a:r>
            <a:endParaRPr lang="zh-CN" altLang="en-US" sz="2400" b="1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getchar 和 putchar 分别用来输入输出单个字符。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945" y="2010410"/>
            <a:ext cx="6722110" cy="4255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5820" y="683895"/>
            <a:ext cx="79584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gets 输入，puts 输出</a:t>
            </a:r>
            <a:endParaRPr lang="zh-CN" altLang="en-US" sz="2400" b="1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gets 用来输入一行字符串(注意：gets 识别换行符 \n 作为输入结束，因此 scanf 完一个整数后，如果要使用 gets,需要先用 getchar 接收一个整数后的换行符)，并将其存放于数组中；puts 用来输出一行字符串，并紧跟一个换行 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80" y="3102610"/>
            <a:ext cx="3315970" cy="320484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4991103" y="669925"/>
            <a:ext cx="5126790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1" lang="zh-CN" altLang="en-US" sz="2800" spc="5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字符串处理函数</a:t>
            </a:r>
            <a:endParaRPr kumimoji="1" lang="zh-CN" altLang="en-US" sz="2800" spc="5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95330" y="439641"/>
            <a:ext cx="1026075" cy="1026075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33654" y="439641"/>
            <a:ext cx="132906" cy="1026075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03425" y="1971675"/>
            <a:ext cx="8185785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C</a:t>
            </a:r>
            <a:r>
              <a:rPr lang="zh-CN" altLang="en-US" sz="2400">
                <a:solidFill>
                  <a:schemeClr val="bg1"/>
                </a:solidFill>
              </a:rPr>
              <a:t>语言函数库中提供了丰富的字符串处理函数，下面介绍几个最常用的字符串处理函数。在使用时需包含头文件</a:t>
            </a:r>
            <a:r>
              <a:rPr lang="en-US" altLang="zh-CN" sz="2400">
                <a:solidFill>
                  <a:schemeClr val="bg1"/>
                </a:solidFill>
              </a:rPr>
              <a:t>string.h</a:t>
            </a:r>
            <a:r>
              <a:rPr lang="zh-CN" altLang="en-US" sz="2400">
                <a:solidFill>
                  <a:schemeClr val="bg1"/>
                </a:solidFill>
              </a:rPr>
              <a:t>。</a:t>
            </a:r>
            <a:endParaRPr lang="en-US" altLang="zh-CN" sz="2400" b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 b="1">
                <a:solidFill>
                  <a:schemeClr val="bg1"/>
                </a:solidFill>
              </a:rPr>
              <a:t>1. </a:t>
            </a:r>
            <a:r>
              <a:rPr lang="zh-CN" altLang="en-US" sz="2400" b="1">
                <a:solidFill>
                  <a:schemeClr val="bg1"/>
                </a:solidFill>
              </a:rPr>
              <a:t>字符串连接函数</a:t>
            </a:r>
            <a:r>
              <a:rPr lang="en-US" altLang="zh-CN" sz="2400" b="1">
                <a:solidFill>
                  <a:schemeClr val="bg1"/>
                </a:solidFill>
              </a:rPr>
              <a:t>strcat</a:t>
            </a:r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调用形式：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        </a:t>
            </a:r>
            <a:r>
              <a:rPr lang="en-US" altLang="zh-CN" sz="2000" b="1">
                <a:solidFill>
                  <a:schemeClr val="bg1"/>
                </a:solidFill>
              </a:rPr>
              <a:t>strcat(</a:t>
            </a:r>
            <a:r>
              <a:rPr lang="zh-CN" altLang="en-US" sz="2000" b="1">
                <a:solidFill>
                  <a:schemeClr val="bg1"/>
                </a:solidFill>
              </a:rPr>
              <a:t>字符数组名</a:t>
            </a:r>
            <a:r>
              <a:rPr lang="en-US" altLang="zh-CN" sz="2000" b="1">
                <a:solidFill>
                  <a:schemeClr val="bg1"/>
                </a:solidFill>
              </a:rPr>
              <a:t>,</a:t>
            </a:r>
            <a:r>
              <a:rPr lang="zh-CN" altLang="en-US" sz="2000" b="1">
                <a:solidFill>
                  <a:schemeClr val="bg1"/>
                </a:solidFill>
              </a:rPr>
              <a:t>字符数组名或字符串常量</a:t>
            </a:r>
            <a:r>
              <a:rPr lang="en-US" altLang="zh-CN" sz="2000" b="1">
                <a:solidFill>
                  <a:schemeClr val="bg1"/>
                </a:solidFill>
              </a:rPr>
              <a:t>)</a:t>
            </a:r>
            <a:endParaRPr lang="en-US" altLang="zh-CN" sz="2000" b="1">
              <a:solidFill>
                <a:schemeClr val="bg1"/>
              </a:solidFill>
            </a:endParaRPr>
          </a:p>
          <a:p>
            <a:endParaRPr lang="en-US" altLang="zh-CN" sz="2000" b="1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功能：将第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项中的字符串连接到第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项中的字符串的尾部。第一项的字符数组必须定义得足够大，以便容纳连接后的结果。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4274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字符串处理函数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455" y="1153795"/>
            <a:ext cx="5672455" cy="1842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70" y="3717290"/>
            <a:ext cx="4900295" cy="195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4274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字符串处理函数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3425" y="530860"/>
            <a:ext cx="8185785" cy="6308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1"/>
                </a:solidFill>
              </a:rPr>
              <a:t>2. </a:t>
            </a:r>
            <a:r>
              <a:rPr lang="zh-CN" altLang="en-US" sz="2400" b="1">
                <a:solidFill>
                  <a:schemeClr val="bg1"/>
                </a:solidFill>
              </a:rPr>
              <a:t>字符串复制函数</a:t>
            </a:r>
            <a:r>
              <a:rPr lang="en-US" altLang="zh-CN" sz="2400" b="1">
                <a:solidFill>
                  <a:schemeClr val="bg1"/>
                </a:solidFill>
              </a:rPr>
              <a:t>strcpy</a:t>
            </a:r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调用形式：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        </a:t>
            </a:r>
            <a:r>
              <a:rPr lang="en-US" altLang="zh-CN" sz="2000" b="1">
                <a:solidFill>
                  <a:schemeClr val="bg1"/>
                </a:solidFill>
              </a:rPr>
              <a:t>strcpy(</a:t>
            </a:r>
            <a:r>
              <a:rPr lang="zh-CN" altLang="en-US" sz="2000" b="1">
                <a:solidFill>
                  <a:schemeClr val="bg1"/>
                </a:solidFill>
              </a:rPr>
              <a:t>字符数组名</a:t>
            </a:r>
            <a:r>
              <a:rPr lang="en-US" altLang="zh-CN" sz="2000" b="1">
                <a:solidFill>
                  <a:schemeClr val="bg1"/>
                </a:solidFill>
              </a:rPr>
              <a:t>,</a:t>
            </a:r>
            <a:r>
              <a:rPr lang="zh-CN" altLang="en-US" sz="2000" b="1">
                <a:solidFill>
                  <a:schemeClr val="bg1"/>
                </a:solidFill>
              </a:rPr>
              <a:t>字符数组名或字符串常量</a:t>
            </a:r>
            <a:r>
              <a:rPr lang="en-US" altLang="zh-CN" sz="2000" b="1">
                <a:solidFill>
                  <a:schemeClr val="bg1"/>
                </a:solidFill>
              </a:rPr>
              <a:t>)</a:t>
            </a:r>
            <a:endParaRPr lang="en-US" altLang="zh-CN" sz="2000" b="1">
              <a:solidFill>
                <a:schemeClr val="bg1"/>
              </a:solidFill>
            </a:endParaRPr>
          </a:p>
          <a:p>
            <a:endParaRPr lang="en-US" altLang="zh-CN" sz="2000" b="1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功能：将第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项中的字符串复制到第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项中的字符数组中。第一项的字符数组必须定义得足够大，以便容纳复制过来的字符串。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 b="1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 sz="2400" b="1">
                <a:solidFill>
                  <a:schemeClr val="bg1"/>
                </a:solidFill>
                <a:sym typeface="+mn-ea"/>
              </a:rPr>
              <a:t>字符串</a:t>
            </a:r>
            <a:r>
              <a:rPr lang="zh-CN" sz="2400" b="1">
                <a:solidFill>
                  <a:schemeClr val="bg1"/>
                </a:solidFill>
                <a:sym typeface="+mn-ea"/>
              </a:rPr>
              <a:t>比较函数</a:t>
            </a:r>
            <a:r>
              <a:rPr lang="en-US" altLang="zh-CN" sz="2400" b="1">
                <a:solidFill>
                  <a:schemeClr val="bg1"/>
                </a:solidFill>
                <a:sym typeface="+mn-ea"/>
              </a:rPr>
              <a:t>strcmp</a:t>
            </a:r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调用形式：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  <a:sym typeface="+mn-ea"/>
              </a:rPr>
              <a:t>           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strcmp(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字符数组名或字符串常量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,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字符数组名或字符串常量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)</a:t>
            </a:r>
            <a:endParaRPr lang="en-US" altLang="zh-CN" sz="2000" b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  <a:sym typeface="+mn-ea"/>
              </a:rPr>
              <a:t>功能：</a:t>
            </a:r>
            <a:r>
              <a:rPr lang="zh-CN" sz="2400">
                <a:solidFill>
                  <a:schemeClr val="bg1"/>
                </a:solidFill>
                <a:sym typeface="+mn-ea"/>
              </a:rPr>
              <a:t>两个字符串比较大小。</a:t>
            </a:r>
            <a:endParaRPr lang="zh-CN" sz="2400">
              <a:solidFill>
                <a:schemeClr val="bg1"/>
              </a:solidFill>
              <a:sym typeface="+mn-ea"/>
            </a:endParaRPr>
          </a:p>
          <a:p>
            <a:r>
              <a:rPr lang="zh-CN" sz="2400">
                <a:solidFill>
                  <a:schemeClr val="bg1"/>
                </a:solidFill>
              </a:rPr>
              <a:t>如果第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项</a:t>
            </a:r>
            <a:r>
              <a:rPr lang="en-US" altLang="zh-CN" sz="2400">
                <a:solidFill>
                  <a:schemeClr val="bg1"/>
                </a:solidFill>
              </a:rPr>
              <a:t>=</a:t>
            </a:r>
            <a:r>
              <a:rPr lang="zh-CN" altLang="en-US" sz="2400">
                <a:solidFill>
                  <a:schemeClr val="bg1"/>
                </a:solidFill>
              </a:rPr>
              <a:t>第</a:t>
            </a:r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项，函数值为</a:t>
            </a:r>
            <a:r>
              <a:rPr lang="en-US" altLang="zh-CN" sz="2400">
                <a:solidFill>
                  <a:schemeClr val="bg1"/>
                </a:solidFill>
              </a:rPr>
              <a:t>0</a:t>
            </a:r>
            <a:r>
              <a:rPr lang="zh-CN" altLang="en-US" sz="2400">
                <a:solidFill>
                  <a:schemeClr val="bg1"/>
                </a:solidFill>
              </a:rPr>
              <a:t>；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sz="2400">
                <a:solidFill>
                  <a:schemeClr val="bg1"/>
                </a:solidFill>
                <a:sym typeface="+mn-ea"/>
              </a:rPr>
              <a:t>如果第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1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项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&gt;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第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项，函数值为正整数；</a:t>
            </a:r>
            <a:endParaRPr lang="zh-CN" altLang="en-US" sz="2400">
              <a:solidFill>
                <a:schemeClr val="bg1"/>
              </a:solidFill>
              <a:sym typeface="+mn-ea"/>
            </a:endParaRPr>
          </a:p>
          <a:p>
            <a:r>
              <a:rPr lang="zh-CN" sz="2400">
                <a:solidFill>
                  <a:schemeClr val="bg1"/>
                </a:solidFill>
                <a:sym typeface="+mn-ea"/>
              </a:rPr>
              <a:t>如果第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1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项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&lt;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第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项，函数值为负整数。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4274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字符串处理函数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3425" y="786130"/>
            <a:ext cx="8185785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bg1"/>
                </a:solidFill>
              </a:rPr>
              <a:t>4. </a:t>
            </a:r>
            <a:r>
              <a:rPr lang="zh-CN" sz="2400" b="1">
                <a:solidFill>
                  <a:schemeClr val="bg1"/>
                </a:solidFill>
              </a:rPr>
              <a:t>测字符串长度</a:t>
            </a:r>
            <a:r>
              <a:rPr lang="en-US" altLang="zh-CN" sz="2400" b="1">
                <a:solidFill>
                  <a:schemeClr val="bg1"/>
                </a:solidFill>
              </a:rPr>
              <a:t>strlen</a:t>
            </a:r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调用形式：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        </a:t>
            </a:r>
            <a:r>
              <a:rPr lang="en-US" altLang="zh-CN" sz="2000" b="1">
                <a:solidFill>
                  <a:schemeClr val="bg1"/>
                </a:solidFill>
              </a:rPr>
              <a:t>strlen(</a:t>
            </a:r>
            <a:r>
              <a:rPr lang="zh-CN" altLang="en-US" sz="2000" b="1">
                <a:solidFill>
                  <a:schemeClr val="bg1"/>
                </a:solidFill>
              </a:rPr>
              <a:t>字符数组名或字符串常量</a:t>
            </a:r>
            <a:r>
              <a:rPr lang="en-US" altLang="zh-CN" sz="2000" b="1">
                <a:solidFill>
                  <a:schemeClr val="bg1"/>
                </a:solidFill>
              </a:rPr>
              <a:t>)</a:t>
            </a:r>
            <a:endParaRPr lang="en-US" altLang="zh-CN" sz="2000" b="1">
              <a:solidFill>
                <a:schemeClr val="bg1"/>
              </a:solidFill>
            </a:endParaRPr>
          </a:p>
          <a:p>
            <a:endParaRPr lang="en-US" altLang="zh-CN" sz="2000" b="1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功能：</a:t>
            </a:r>
            <a:r>
              <a:rPr lang="zh-CN" sz="2400">
                <a:solidFill>
                  <a:schemeClr val="bg1"/>
                </a:solidFill>
              </a:rPr>
              <a:t>测字符串长度。字符串长度是字符串中包含的字符个数（不包括</a:t>
            </a:r>
            <a:r>
              <a:rPr lang="en-US" altLang="zh-CN" sz="2400">
                <a:solidFill>
                  <a:schemeClr val="bg1"/>
                </a:solidFill>
              </a:rPr>
              <a:t>'</a:t>
            </a:r>
            <a:r>
              <a:rPr lang="en-US" altLang="zh-CN" sz="2400">
                <a:solidFill>
                  <a:schemeClr val="bg1"/>
                </a:solidFill>
              </a:rPr>
              <a:t>\0'</a:t>
            </a:r>
            <a:r>
              <a:rPr lang="zh-CN" altLang="en-US" sz="2400">
                <a:solidFill>
                  <a:schemeClr val="bg1"/>
                </a:solidFill>
              </a:rPr>
              <a:t>在内）。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 b="1">
                <a:solidFill>
                  <a:schemeClr val="bg1"/>
                </a:solidFill>
                <a:sym typeface="+mn-ea"/>
              </a:rPr>
              <a:t>5. </a:t>
            </a:r>
            <a:r>
              <a:rPr lang="zh-CN" sz="2400" b="1">
                <a:solidFill>
                  <a:schemeClr val="bg1"/>
                </a:solidFill>
                <a:sym typeface="+mn-ea"/>
              </a:rPr>
              <a:t>大写字母转小写字母</a:t>
            </a:r>
            <a:r>
              <a:rPr lang="en-US" altLang="zh-CN" sz="2400" b="1">
                <a:solidFill>
                  <a:schemeClr val="bg1"/>
                </a:solidFill>
                <a:sym typeface="+mn-ea"/>
              </a:rPr>
              <a:t>strlwr</a:t>
            </a:r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调用形式：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  <a:sym typeface="+mn-ea"/>
              </a:rPr>
              <a:t>           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strlwr(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字符数组名或字符串常量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)</a:t>
            </a:r>
            <a:endParaRPr lang="en-US" altLang="zh-CN" sz="2000" b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 b="1">
                <a:solidFill>
                  <a:schemeClr val="bg1"/>
                </a:solidFill>
                <a:sym typeface="+mn-ea"/>
              </a:rPr>
              <a:t>6. </a:t>
            </a:r>
            <a:r>
              <a:rPr lang="zh-CN" altLang="en-US" sz="2400" b="1">
                <a:solidFill>
                  <a:schemeClr val="bg1"/>
                </a:solidFill>
                <a:sym typeface="+mn-ea"/>
              </a:rPr>
              <a:t>小</a:t>
            </a:r>
            <a:r>
              <a:rPr lang="zh-CN" sz="2400" b="1">
                <a:solidFill>
                  <a:schemeClr val="bg1"/>
                </a:solidFill>
                <a:sym typeface="+mn-ea"/>
              </a:rPr>
              <a:t>写字母转大写字母</a:t>
            </a:r>
            <a:r>
              <a:rPr lang="en-US" altLang="zh-CN" sz="2400" b="1">
                <a:solidFill>
                  <a:schemeClr val="bg1"/>
                </a:solidFill>
                <a:sym typeface="+mn-ea"/>
              </a:rPr>
              <a:t>strupr</a:t>
            </a:r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调用形式：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  <a:sym typeface="+mn-ea"/>
              </a:rPr>
              <a:t>         </a:t>
            </a:r>
            <a:r>
              <a:rPr lang="zh-CN" altLang="en-US" sz="2000">
                <a:solidFill>
                  <a:schemeClr val="bg1"/>
                </a:solidFill>
                <a:sym typeface="+mn-ea"/>
              </a:rPr>
              <a:t>  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strupr(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字符数组名或字符串常量</a:t>
            </a:r>
            <a:r>
              <a:rPr lang="en-US" altLang="zh-CN" sz="2000" b="1">
                <a:solidFill>
                  <a:schemeClr val="bg1"/>
                </a:solidFill>
                <a:sym typeface="+mn-ea"/>
              </a:rPr>
              <a:t>)</a:t>
            </a:r>
            <a:endParaRPr lang="en-US" altLang="zh-CN" sz="2000" b="1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4274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字符串处理函数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05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2005" y="1889125"/>
            <a:ext cx="10730230" cy="36499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8940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关于数组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65" y="1221105"/>
            <a:ext cx="3508375" cy="4015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585" y="1221105"/>
            <a:ext cx="3789045" cy="43218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38680" y="5847080"/>
            <a:ext cx="5784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使用数组时，最好将其定义为全局变量。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19530" y="596265"/>
            <a:ext cx="1848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关于数组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325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19530" y="596265"/>
            <a:ext cx="3089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</a:rPr>
              <a:t>ACM</a:t>
            </a:r>
            <a:r>
              <a:rPr lang="zh-CN" altLang="en-US" sz="2000">
                <a:solidFill>
                  <a:schemeClr val="bg1"/>
                </a:solidFill>
              </a:rPr>
              <a:t>常见错误提示</a:t>
            </a:r>
            <a:endParaRPr lang="zh-CN" altLang="en-US" sz="20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95" y="995045"/>
            <a:ext cx="8995410" cy="5468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325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3195" y="592455"/>
            <a:ext cx="26238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</a:rPr>
              <a:t>T</a:t>
            </a:r>
            <a:r>
              <a:rPr lang="zh-CN" altLang="en-US" sz="2000">
                <a:solidFill>
                  <a:schemeClr val="bg1"/>
                </a:solidFill>
              </a:rPr>
              <a:t>ime Limit  Exceeded</a:t>
            </a:r>
            <a:endParaRPr lang="zh-CN" altLang="en-US" sz="20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3195" y="1396365"/>
            <a:ext cx="881507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1.没有循环终止条件。</a:t>
            </a:r>
            <a:endParaRPr lang="zh-CN" altLang="en-US" sz="2000" b="1">
              <a:solidFill>
                <a:schemeClr val="bg1"/>
              </a:solidFill>
            </a:endParaRPr>
          </a:p>
          <a:p>
            <a:endParaRPr lang="zh-CN" altLang="en-US" sz="2000" b="1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就是说程序中存在一个循环，但是这个循环没有终止条件，或者说是条件太宽泛，在运行的时候虽然能输出结果，但这个循环会一直循环下去，导致运行时间过长。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例如：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在1001中，要测试多组数据，进行多次循环，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如果这样写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for(m=0;m&gt;0;m++)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scanf(.......)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......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企图让输入一直循环，理论上并没有什么问题，程序也能运行正确，但却会超时。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因为没有一个终止的条件，计算机会一直不断去运行，m只会无限大，这是实际一种很无赖的做法。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325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3195" y="592455"/>
            <a:ext cx="26238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</a:rPr>
              <a:t>T</a:t>
            </a:r>
            <a:r>
              <a:rPr lang="zh-CN" altLang="en-US" sz="2000" b="1">
                <a:solidFill>
                  <a:schemeClr val="bg1"/>
                </a:solidFill>
              </a:rPr>
              <a:t>ime Limit  Exceeded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3195" y="1396365"/>
            <a:ext cx="881507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而如果要想用一个合理的方式实现无限次循环，就需要用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while(scanf()!=EOF)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......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这里虽然也可无限次的循环，却有了终止条件：返回值为-1 的时候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关于while(scanf()!=EOF)的用法原理，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　　scanf("%d,%d", &amp;a, &amp;b)中</a:t>
            </a:r>
            <a:endParaRPr lang="zh-CN" altLang="en-US" sz="2000">
              <a:solidFill>
                <a:schemeClr val="bg1"/>
              </a:solidFill>
            </a:endParaRPr>
          </a:p>
          <a:p>
            <a:pPr algn="l"/>
            <a:r>
              <a:rPr lang="zh-CN" altLang="en-US" sz="2000">
                <a:solidFill>
                  <a:schemeClr val="bg1"/>
                </a:solidFill>
              </a:rPr>
              <a:t>　 如果a和b都被成功读入，那么scanf的返回值就是2</a:t>
            </a:r>
            <a:endParaRPr lang="zh-CN" altLang="en-US" sz="2000">
              <a:solidFill>
                <a:schemeClr val="bg1"/>
              </a:solidFill>
            </a:endParaRPr>
          </a:p>
          <a:p>
            <a:pPr algn="l"/>
            <a:r>
              <a:rPr lang="zh-CN" altLang="en-US" sz="2000">
                <a:solidFill>
                  <a:schemeClr val="bg1"/>
                </a:solidFill>
              </a:rPr>
              <a:t>　 如果只有a被成功读入，返回值为1</a:t>
            </a:r>
            <a:endParaRPr lang="zh-CN" altLang="en-US" sz="2000">
              <a:solidFill>
                <a:schemeClr val="bg1"/>
              </a:solidFill>
            </a:endParaRPr>
          </a:p>
          <a:p>
            <a:pPr algn="l"/>
            <a:r>
              <a:rPr lang="zh-CN" altLang="en-US" sz="2000">
                <a:solidFill>
                  <a:schemeClr val="bg1"/>
                </a:solidFill>
              </a:rPr>
              <a:t>     如果a和b都未被成功读入，返回值为0</a:t>
            </a:r>
            <a:endParaRPr lang="zh-CN" altLang="en-US" sz="2000">
              <a:solidFill>
                <a:schemeClr val="bg1"/>
              </a:solidFill>
            </a:endParaRPr>
          </a:p>
          <a:p>
            <a:pPr algn="l"/>
            <a:r>
              <a:rPr lang="zh-CN" altLang="en-US" sz="2000">
                <a:solidFill>
                  <a:schemeClr val="bg1"/>
                </a:solidFill>
              </a:rPr>
              <a:t>　 如果遇到错误或遇到end of file，返回值为EOF。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325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3195" y="592455"/>
            <a:ext cx="26238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</a:rPr>
              <a:t>T</a:t>
            </a:r>
            <a:r>
              <a:rPr lang="zh-CN" altLang="en-US" sz="2000" b="1">
                <a:solidFill>
                  <a:schemeClr val="bg1"/>
                </a:solidFill>
              </a:rPr>
              <a:t>ime Limit  Exceeded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3195" y="1373505"/>
            <a:ext cx="881507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2.函数调用超时。</a:t>
            </a:r>
            <a:endParaRPr lang="zh-CN" altLang="en-US" sz="2000" b="1">
              <a:solidFill>
                <a:schemeClr val="bg1"/>
              </a:solidFill>
            </a:endParaRPr>
          </a:p>
          <a:p>
            <a:endParaRPr lang="zh-CN" altLang="en-US" sz="2000" b="1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例如：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在1279中，需要用到一个n的阶乘。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在第一次做的时候，我调用了一个递归函数来求阶乘，运行测试正确，却出现了超时情况。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然后换了一种做法，用一个for循环去求阶乘，结果就通过了。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递归调用因为经常会调用自身很多次，所以时间的复杂度是指数级别的。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 b="1">
                <a:solidFill>
                  <a:schemeClr val="bg1"/>
                </a:solidFill>
              </a:rPr>
              <a:t>3.程序算法不够优化。</a:t>
            </a:r>
            <a:endParaRPr lang="zh-CN" altLang="en-US" sz="2000" b="1">
              <a:solidFill>
                <a:schemeClr val="bg1"/>
              </a:solidFill>
            </a:endParaRPr>
          </a:p>
          <a:p>
            <a:endParaRPr lang="zh-CN" altLang="en-US" sz="2000" b="1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就是说自己的程序太复杂，存在更快更有效率的方法。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所以在解决问题时，应尽量选择简单的算法。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如果遇到了这种情况，只能换一个思路了。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en-US" altLang="zh-CN" sz="2000" b="1">
              <a:solidFill>
                <a:schemeClr val="bg1"/>
              </a:solidFill>
            </a:endParaRPr>
          </a:p>
          <a:p>
            <a:r>
              <a:rPr lang="en-US" altLang="zh-CN" sz="2000" b="1">
                <a:solidFill>
                  <a:schemeClr val="bg1"/>
                </a:solidFill>
              </a:rPr>
              <a:t>4.</a:t>
            </a:r>
            <a:r>
              <a:rPr lang="zh-CN" altLang="en-US" sz="2000" b="1">
                <a:solidFill>
                  <a:schemeClr val="bg1"/>
                </a:solidFill>
              </a:rPr>
              <a:t>程序本身存在问题。</a:t>
            </a:r>
            <a:endParaRPr lang="zh-CN" altLang="en-US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325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6035" y="1282700"/>
            <a:ext cx="881507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Segmentation Fault：段错误。</a:t>
            </a:r>
            <a:endParaRPr lang="zh-CN" altLang="en-US" sz="2000" b="1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有2种情况可能导致此错误：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  </a:t>
            </a:r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     buffer overflow – 缓冲区溢出，也就是你访问 了非法内存，比如你申请了一个大小为2的数组a，却访问了a[</a:t>
            </a:r>
            <a:r>
              <a:rPr lang="en-US" altLang="zh-CN" sz="2000">
                <a:solidFill>
                  <a:schemeClr val="bg1"/>
                </a:solidFill>
              </a:rPr>
              <a:t>3</a:t>
            </a:r>
            <a:r>
              <a:rPr lang="zh-CN" altLang="en-US" sz="2000">
                <a:solidFill>
                  <a:schemeClr val="bg1"/>
                </a:solidFill>
              </a:rPr>
              <a:t>]，或者在C/C++中访问了空指针等等。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     stack overflow – 堆栈溢出，有可能你在c/c++程序的函数中申请了过大的空间，或者递归层次太多，导致堆栈溢出了，轻记住堆栈的大小为8192KB。</a:t>
            </a:r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endParaRPr lang="zh-CN" altLang="en-US" sz="2000">
              <a:solidFill>
                <a:schemeClr val="bg1"/>
              </a:solidFill>
            </a:endParaRPr>
          </a:p>
          <a:p>
            <a:r>
              <a:rPr lang="zh-CN" altLang="en-US" sz="2000" b="1">
                <a:solidFill>
                  <a:schemeClr val="bg1"/>
                </a:solidFill>
              </a:rPr>
              <a:t>Runtime Error (RE) ：</a:t>
            </a:r>
            <a:endParaRPr lang="zh-CN" altLang="en-US" sz="2000" b="1">
              <a:solidFill>
                <a:schemeClr val="bg1"/>
              </a:solidFill>
            </a:endParaRPr>
          </a:p>
          <a:p>
            <a:r>
              <a:rPr lang="zh-CN" altLang="en-US" sz="2000">
                <a:solidFill>
                  <a:schemeClr val="bg1"/>
                </a:solidFill>
              </a:rPr>
              <a:t>你</a:t>
            </a:r>
            <a:r>
              <a:rPr lang="zh-CN" altLang="en-US" sz="2000">
                <a:solidFill>
                  <a:schemeClr val="bg1"/>
                </a:solidFill>
              </a:rPr>
              <a:t>的程序在运行的时候出错了，异常终止了，导致这种状态的情况有肯多，一般都是一些非法操作，比如文件操作，Java中的网络操作等等。另外C/C++中越界访问函数中定义的数组也会导致Runtime Error。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110952" y="6307602"/>
            <a:ext cx="187093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200" dirty="0">
                <a:solidFill>
                  <a:schemeClr val="bg1">
                    <a:alpha val="76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CHD_ACM</a:t>
            </a:r>
            <a:endParaRPr kumimoji="1" lang="en-US" altLang="zh-CN" sz="1200" dirty="0">
              <a:solidFill>
                <a:schemeClr val="bg1">
                  <a:alpha val="76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5029" y="-9789"/>
            <a:ext cx="1325880" cy="349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en-US" altLang="zh-CN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ACM</a:t>
            </a:r>
            <a:r>
              <a:rPr kumimoji="1" lang="zh-CN" altLang="en-US" sz="1200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</a:t>
            </a:r>
            <a:endParaRPr kumimoji="1" lang="zh-CN" altLang="en-US" sz="1200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935" y="0"/>
            <a:ext cx="318977" cy="318977"/>
          </a:xfrm>
          <a:prstGeom prst="rect">
            <a:avLst/>
          </a:prstGeom>
          <a:gradFill flip="none" rotWithShape="1">
            <a:gsLst>
              <a:gs pos="0">
                <a:srgbClr val="0065EC"/>
              </a:gs>
              <a:gs pos="99000">
                <a:srgbClr val="E5000E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latin typeface="黑体" panose="02010609060101010101" pitchFamily="49" charset="-122"/>
                <a:ea typeface="黑体" panose="02010609060101010101" pitchFamily="49" charset="-122"/>
              </a:rPr>
              <a:t>06</a:t>
            </a:r>
            <a:endParaRPr kumimoji="1" lang="zh-CN" altLang="en-US" sz="10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1866" y="0"/>
            <a:ext cx="53163" cy="318977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03457" y="6389298"/>
            <a:ext cx="69011" cy="126521"/>
          </a:xfrm>
          <a:prstGeom prst="rect">
            <a:avLst/>
          </a:prstGeom>
          <a:solidFill>
            <a:srgbClr val="E50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0610" y="548640"/>
            <a:ext cx="8815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>
                <a:solidFill>
                  <a:schemeClr val="bg1"/>
                </a:solidFill>
              </a:rPr>
              <a:t>例题</a:t>
            </a:r>
            <a:endParaRPr lang="zh-CN" sz="200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95805" y="1242695"/>
            <a:ext cx="8200390" cy="4979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04030" y="2764557"/>
            <a:ext cx="2253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smtClean="0">
                <a:solidFill>
                  <a:srgbClr val="FF0000"/>
                </a:solidFill>
                <a:latin typeface="FZLanTingHeiS-B-GB" charset="-122"/>
                <a:ea typeface="FZLanTingHeiS-B-GB" charset="-122"/>
                <a:cs typeface="FZLanTingHeiS-B-GB" charset="-122"/>
              </a:rPr>
              <a:t>THANKS!</a:t>
            </a:r>
            <a:endParaRPr kumimoji="1" lang="en-US" altLang="zh-CN" sz="2800" dirty="0" smtClean="0">
              <a:solidFill>
                <a:srgbClr val="FF0000"/>
              </a:solidFill>
              <a:latin typeface="FZLanTingHeiS-B-GB" charset="-122"/>
              <a:ea typeface="FZLanTingHeiS-B-GB" charset="-122"/>
              <a:cs typeface="FZLanTingHeiS-B-GB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31700" y="3379928"/>
            <a:ext cx="197708" cy="45719"/>
          </a:xfrm>
          <a:prstGeom prst="rect">
            <a:avLst/>
          </a:prstGeom>
          <a:solidFill>
            <a:srgbClr val="E5000E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85,&quot;width&quot;:3225}"/>
</p:tagLst>
</file>

<file path=ppt/tags/tag2.xml><?xml version="1.0" encoding="utf-8"?>
<p:tagLst xmlns:p="http://schemas.openxmlformats.org/presentationml/2006/main">
  <p:tag name="KSO_WM_UNIT_PLACING_PICTURE_USER_VIEWPORT" val="{&quot;height&quot;:4500,&quot;width&quot;:13230}"/>
</p:tagLst>
</file>

<file path=ppt/tags/tag3.xml><?xml version="1.0" encoding="utf-8"?>
<p:tagLst xmlns:p="http://schemas.openxmlformats.org/presentationml/2006/main">
  <p:tag name="KSO_WM_UNIT_PLACING_PICTURE_USER_VIEWPORT" val="{&quot;height&quot;:6375,&quot;width&quot;:1050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4902</Words>
  <Application>WPS 演示</Application>
  <PresentationFormat>宽屏</PresentationFormat>
  <Paragraphs>608</Paragraphs>
  <Slides>57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9" baseType="lpstr">
      <vt:lpstr>Arial</vt:lpstr>
      <vt:lpstr>宋体</vt:lpstr>
      <vt:lpstr>Wingdings</vt:lpstr>
      <vt:lpstr>Arial</vt:lpstr>
      <vt:lpstr>微软雅黑</vt:lpstr>
      <vt:lpstr>FZLanTingHeiS-B-GB</vt:lpstr>
      <vt:lpstr>黑体</vt:lpstr>
      <vt:lpstr>等线</vt:lpstr>
      <vt:lpstr>Arial Unicode MS</vt:lpstr>
      <vt:lpstr>等线 Light</vt:lpstr>
      <vt:lpstr>楷体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水心.</cp:lastModifiedBy>
  <cp:revision>25</cp:revision>
  <dcterms:created xsi:type="dcterms:W3CDTF">2020-01-07T02:31:00Z</dcterms:created>
  <dcterms:modified xsi:type="dcterms:W3CDTF">2020-10-17T10:01:21Z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2052-11.1.0.9827</vt:lpwstr>
  </property>
</Properties>
</file>