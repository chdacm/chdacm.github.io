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58" r:id="rId7"/>
    <p:sldId id="259" r:id="rId8"/>
    <p:sldId id="260" r:id="rId9"/>
    <p:sldId id="264" r:id="rId10"/>
    <p:sldId id="265" r:id="rId11"/>
    <p:sldId id="272" r:id="rId12"/>
    <p:sldId id="266" r:id="rId13"/>
    <p:sldId id="267" r:id="rId14"/>
    <p:sldId id="268" r:id="rId15"/>
    <p:sldId id="269" r:id="rId16"/>
    <p:sldId id="270" r:id="rId17"/>
    <p:sldId id="271" r:id="rId18"/>
    <p:sldId id="279" r:id="rId19"/>
    <p:sldId id="282" r:id="rId20"/>
    <p:sldId id="273" r:id="rId21"/>
    <p:sldId id="274" r:id="rId22"/>
    <p:sldId id="275" r:id="rId23"/>
    <p:sldId id="276" r:id="rId24"/>
    <p:sldId id="277" r:id="rId25"/>
    <p:sldId id="278" r:id="rId26"/>
    <p:sldId id="280" r:id="rId27"/>
    <p:sldId id="281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81" d="100"/>
          <a:sy n="81" d="100"/>
        </p:scale>
        <p:origin x="7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78AAB-0719-42B3-931F-1FAF1D75F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59CD19-A393-4B9F-A3F4-9ABA545E5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2959B9-D754-4287-8309-999EDD1D2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103230-402A-4F69-9D68-D1D4BB365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62A5E2-F118-497F-A7ED-ACF453E6E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69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178164-72CE-4CD4-91FA-183491E0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E01034-AA6A-4204-8444-873FDBE56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502848-2CC1-45C9-BAFE-C4AF78FF3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C06089-4A72-4764-A37A-EC01CF9A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2DC343-2784-41F8-AA07-8F09DBA7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31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0917D-AED0-4C9B-8883-A286FA1A5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A9F1C3-B1B4-40D2-AE63-9E1177C86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AA9192-3438-413D-93D5-E11E462CE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DFBBDB-0AD4-4B92-8DCF-2E7F3D0E3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E14606-0CF1-4074-81C9-E260F66E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660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3F1C6-FB97-4D3D-A473-215073B0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C6F94-1258-4E3F-BCA5-75904DD32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87B08-BB3D-44F4-9502-814DDD595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8AE386-C93D-471C-99F8-98112F77E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FA0ECD-63C3-430E-B319-CC4EDBC9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6F6673-3067-40E1-87DA-3EAE7848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8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264D5-43DF-446C-B137-62A2DE7E6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56FE25-340E-46BD-A61D-693B5750D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1B4548-FDBD-41A6-9BFB-85C52218A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7075F6-47BB-4988-94B5-DDE43BD6B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BD1635-F76C-45A2-B4DC-982423249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3362B4B-A86B-4A07-9012-E897666EB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06E088-CA3D-4BA9-AAC1-869F44DE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5E8A78-90E8-4048-B059-1A063D8C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26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E0EC7-3296-4A4F-A560-016FA6F75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F72C91-4A92-46CC-90F7-76DACC27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A101A9-9B72-4D25-A542-C86C0A03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E63F97-5049-47F4-9C63-388648434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1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1B1F05-F775-4DF7-A7E5-9C8CA1717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DA36AD-18A9-4DE7-981F-5709EF92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5E1228-D04E-45B0-913D-BE31960F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74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3CEC1-84F4-46DA-99D1-37957E72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2C6145-C609-4D05-AEC3-2CEEECAC1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1AFE82-E7F2-4A96-B2B5-7930901A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DCA808-3D1C-4E78-9E7A-A10A5C2E8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2A0DCA-0753-45ED-B3DC-AA6A7733A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A161BF-9EBA-472A-A7B0-367B37AD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581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C887B-1441-4063-B69E-E98F95153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16C1E2-7D49-4360-8C75-BC1BE5790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41E8F1-4872-4A8A-BEC5-17105FB27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295C3A-2B05-4726-8CD9-0A6BDFA02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227452-6DE4-4ACF-B691-87175232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9EAB03-A258-4EB0-9888-0F0B42E6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292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315E6-5DB3-45B6-B62D-2370E211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22B229-24B8-4178-926B-35D73AFC6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F30A79-C25F-4974-8D6C-6E4663F02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1A96D-162E-4287-9E38-2FA50199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122C89-3002-4276-B438-EF49DF147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24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6A5929-F34D-4191-85BB-E06A8F4AF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6FDED6-14B1-4BF6-B734-371E7FC1D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BC46AB-10B3-422F-A9D3-106A0531C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090E9-1507-44EC-930A-BF864133E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62B110-3A1E-4B53-9B5C-A36BDD401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803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C05F9A-E6F0-4204-A9FC-8155F56E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B9F556-B191-4ACC-B65D-CEBA29015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E8C66E-4B14-4833-8190-C4DD14B51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205BA-F558-41DD-ADCA-6021D15ECF52}" type="datetimeFigureOut">
              <a:rPr lang="zh-CN" altLang="en-US" smtClean="0"/>
              <a:t>2020/10/10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C85431-69B9-496F-BEE4-53F233650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07E7E0-4766-4175-B3EC-782CAC3E2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71F88-057F-4097-A568-DEFED2D6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946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DB77A-6F25-4E6B-B73F-817E17EE8D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语言基础（一）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AC81DD-4262-4F37-A1CD-7BDAF7C675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/>
              <a:t>ljd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82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F8CA8-E26F-4BEC-BA4E-40C93DDF2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52AB62-94F2-41E0-B51D-F20F79702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0.</a:t>
            </a:r>
            <a:r>
              <a:rPr lang="zh-CN" altLang="en-US" dirty="0"/>
              <a:t>我们的第一个程序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常量与变量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输入输出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运算符与表达式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选择结构</a:t>
            </a:r>
            <a:endParaRPr lang="en-US" altLang="zh-CN" dirty="0"/>
          </a:p>
          <a:p>
            <a:r>
              <a:rPr lang="en-US" altLang="zh-CN" dirty="0"/>
              <a:t>5.C++</a:t>
            </a:r>
            <a:r>
              <a:rPr lang="zh-CN" altLang="en-US" dirty="0"/>
              <a:t>与</a:t>
            </a:r>
            <a:r>
              <a:rPr lang="en-US" altLang="zh-CN" dirty="0"/>
              <a:t>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513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642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我们的第一个程序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E28504-80E1-4513-8BBD-DCFDBCFCC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615" y="1528981"/>
            <a:ext cx="5443138" cy="17771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0EC01A6-A219-4C96-8745-704446E2E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441" y="3956496"/>
            <a:ext cx="4769559" cy="12592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D3F7D6F-8FB1-4E42-8CDE-2634B432DC21}"/>
              </a:ext>
            </a:extLst>
          </p:cNvPr>
          <p:cNvSpPr txBox="1"/>
          <p:nvPr/>
        </p:nvSpPr>
        <p:spPr>
          <a:xfrm>
            <a:off x="7315200" y="217759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程序源代码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4869C07-7840-48DE-ABA0-D2491494E69D}"/>
              </a:ext>
            </a:extLst>
          </p:cNvPr>
          <p:cNvSpPr txBox="1"/>
          <p:nvPr/>
        </p:nvSpPr>
        <p:spPr>
          <a:xfrm>
            <a:off x="7315200" y="440147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程序运行结果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CDF09B-91E1-4321-B8D0-E9EE65F5012E}"/>
              </a:ext>
            </a:extLst>
          </p:cNvPr>
          <p:cNvSpPr txBox="1"/>
          <p:nvPr/>
        </p:nvSpPr>
        <p:spPr>
          <a:xfrm>
            <a:off x="7315200" y="34170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编译运行</a:t>
            </a:r>
          </a:p>
        </p:txBody>
      </p:sp>
    </p:spTree>
    <p:extLst>
      <p:ext uri="{BB962C8B-B14F-4D97-AF65-F5344CB8AC3E}">
        <p14:creationId xmlns:p14="http://schemas.microsoft.com/office/powerpoint/2010/main" val="168547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我们的第一个程序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D0AB94-5B78-4792-ACD4-7E195F2E7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zh-CN" altLang="en-US" dirty="0"/>
              <a:t>编译器推荐：</a:t>
            </a:r>
            <a:endParaRPr lang="en-US" altLang="zh-CN" dirty="0"/>
          </a:p>
          <a:p>
            <a:pPr lvl="1"/>
            <a:r>
              <a:rPr lang="en-US" altLang="zh-CN" dirty="0"/>
              <a:t>Dev </a:t>
            </a:r>
            <a:r>
              <a:rPr lang="en-US" altLang="zh-CN" dirty="0" err="1"/>
              <a:t>c++</a:t>
            </a:r>
            <a:endParaRPr lang="en-US" altLang="zh-CN" dirty="0"/>
          </a:p>
          <a:p>
            <a:pPr lvl="1"/>
            <a:r>
              <a:rPr lang="en-US" altLang="zh-CN" dirty="0" err="1"/>
              <a:t>Codeblocks</a:t>
            </a:r>
            <a:endParaRPr lang="en-US" altLang="zh-CN" dirty="0"/>
          </a:p>
          <a:p>
            <a:pPr lvl="1"/>
            <a:r>
              <a:rPr lang="en-US" altLang="zh-CN" dirty="0"/>
              <a:t>Visual C++</a:t>
            </a:r>
            <a:r>
              <a:rPr lang="zh-CN" altLang="en-US" dirty="0"/>
              <a:t>（学校讲课用）</a:t>
            </a:r>
            <a:endParaRPr lang="en-US" altLang="zh-CN" dirty="0"/>
          </a:p>
          <a:p>
            <a:pPr lvl="1"/>
            <a:r>
              <a:rPr lang="en-US" altLang="zh-CN" dirty="0"/>
              <a:t>Visual studio</a:t>
            </a:r>
          </a:p>
          <a:p>
            <a:pPr lvl="1"/>
            <a:r>
              <a:rPr lang="en-US" altLang="zh-CN" dirty="0"/>
              <a:t>Visual studio code</a:t>
            </a:r>
            <a:r>
              <a:rPr lang="zh-CN" altLang="en-US" dirty="0"/>
              <a:t>（编辑器，需要配置编译环境）</a:t>
            </a:r>
          </a:p>
        </p:txBody>
      </p:sp>
    </p:spTree>
    <p:extLst>
      <p:ext uri="{BB962C8B-B14F-4D97-AF65-F5344CB8AC3E}">
        <p14:creationId xmlns:p14="http://schemas.microsoft.com/office/powerpoint/2010/main" val="396774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常量与变量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D0AB94-5B78-4792-ACD4-7E195F2E7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zh-CN" altLang="en-US" dirty="0"/>
              <a:t>变量声明：</a:t>
            </a:r>
            <a:endParaRPr lang="en-US" altLang="zh-CN" dirty="0"/>
          </a:p>
          <a:p>
            <a:r>
              <a:rPr lang="zh-CN" altLang="en-US" dirty="0"/>
              <a:t>类型 </a:t>
            </a:r>
            <a:r>
              <a:rPr lang="en-US" altLang="zh-CN" dirty="0"/>
              <a:t>+ </a:t>
            </a:r>
            <a:r>
              <a:rPr lang="zh-CN" altLang="en-US" dirty="0"/>
              <a:t>变量名；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dirty="0"/>
              <a:t>可以暂时把变量理解成存放</a:t>
            </a:r>
            <a:endParaRPr lang="en-US" altLang="zh-CN" sz="2800" dirty="0"/>
          </a:p>
          <a:p>
            <a:r>
              <a:rPr lang="zh-CN" altLang="en-US" sz="2800" dirty="0"/>
              <a:t>值的场所，或者形象地认为</a:t>
            </a:r>
            <a:endParaRPr lang="en-US" altLang="zh-CN" sz="2800" dirty="0"/>
          </a:p>
          <a:p>
            <a:r>
              <a:rPr lang="zh-CN" altLang="en-US" sz="2800" dirty="0"/>
              <a:t>每个变量都是一个盒子、</a:t>
            </a:r>
            <a:endParaRPr lang="en-US" altLang="zh-CN" sz="2800" dirty="0"/>
          </a:p>
          <a:p>
            <a:r>
              <a:rPr lang="zh-CN" altLang="en-US" sz="2800" dirty="0"/>
              <a:t>瓶子或者箱子，每个变量都</a:t>
            </a:r>
            <a:endParaRPr lang="en-US" altLang="zh-CN" sz="2800" dirty="0"/>
          </a:p>
          <a:p>
            <a:r>
              <a:rPr lang="zh-CN" altLang="en-US" sz="2800" dirty="0"/>
              <a:t>有自己的类型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A87D20-71A1-49F9-B334-44E8F6709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928" y="1059323"/>
            <a:ext cx="5805057" cy="319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04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常量与变量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64B6F1B-180D-46D2-B422-8C137D1CF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082950"/>
            <a:ext cx="5713429" cy="2545701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34E2426-7D30-41CE-BFE5-F28E0887F6FF}"/>
              </a:ext>
            </a:extLst>
          </p:cNvPr>
          <p:cNvSpPr txBox="1"/>
          <p:nvPr/>
        </p:nvSpPr>
        <p:spPr>
          <a:xfrm>
            <a:off x="838200" y="4468305"/>
            <a:ext cx="55306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常量定义的两种方式：</a:t>
            </a:r>
            <a:endParaRPr lang="en-US" altLang="zh-CN" dirty="0"/>
          </a:p>
          <a:p>
            <a:r>
              <a:rPr lang="en-US" altLang="zh-CN" dirty="0"/>
              <a:t>1.#define</a:t>
            </a:r>
            <a:r>
              <a:rPr lang="zh-CN" altLang="en-US" dirty="0"/>
              <a:t>宏定义 编译过程中对标识符直接替换</a:t>
            </a:r>
            <a:endParaRPr lang="en-US" altLang="zh-CN" dirty="0"/>
          </a:p>
          <a:p>
            <a:r>
              <a:rPr lang="en-US" altLang="zh-CN" dirty="0"/>
              <a:t>2.Const</a:t>
            </a:r>
            <a:r>
              <a:rPr lang="zh-CN" altLang="en-US" dirty="0"/>
              <a:t>关键字声明 常量有类型，可以进行类型检查</a:t>
            </a:r>
          </a:p>
        </p:txBody>
      </p:sp>
    </p:spTree>
    <p:extLst>
      <p:ext uri="{BB962C8B-B14F-4D97-AF65-F5344CB8AC3E}">
        <p14:creationId xmlns:p14="http://schemas.microsoft.com/office/powerpoint/2010/main" val="624409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常量与变量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D0AB94-5B78-4792-ACD4-7E195F2E7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239543"/>
          </a:xfrm>
        </p:spPr>
        <p:txBody>
          <a:bodyPr>
            <a:normAutofit/>
          </a:bodyPr>
          <a:lstStyle/>
          <a:p>
            <a:r>
              <a:rPr lang="zh-CN" altLang="en-US" dirty="0"/>
              <a:t>常用数据类型：</a:t>
            </a:r>
            <a:endParaRPr lang="en-US" altLang="zh-CN" dirty="0"/>
          </a:p>
          <a:p>
            <a:pPr lvl="1"/>
            <a:r>
              <a:rPr lang="en-US" altLang="zh-CN" dirty="0"/>
              <a:t>int</a:t>
            </a:r>
            <a:r>
              <a:rPr lang="zh-CN" altLang="en-US" dirty="0"/>
              <a:t>：整形  </a:t>
            </a:r>
            <a:endParaRPr lang="en-US" altLang="zh-CN" dirty="0"/>
          </a:p>
          <a:p>
            <a:pPr lvl="1"/>
            <a:r>
              <a:rPr lang="en-US" altLang="zh-CN" dirty="0"/>
              <a:t>long </a:t>
            </a:r>
            <a:r>
              <a:rPr lang="en-US" altLang="zh-CN" dirty="0" err="1"/>
              <a:t>long</a:t>
            </a:r>
            <a:r>
              <a:rPr lang="zh-CN" altLang="en-US" dirty="0"/>
              <a:t>：长整型</a:t>
            </a:r>
            <a:endParaRPr lang="en-US" altLang="zh-CN" dirty="0"/>
          </a:p>
          <a:p>
            <a:pPr lvl="1"/>
            <a:r>
              <a:rPr lang="en-US" altLang="zh-CN" dirty="0"/>
              <a:t>char</a:t>
            </a:r>
            <a:r>
              <a:rPr lang="zh-CN" altLang="en-US" dirty="0"/>
              <a:t>：字符型</a:t>
            </a:r>
            <a:endParaRPr lang="en-US" altLang="zh-CN" dirty="0"/>
          </a:p>
          <a:p>
            <a:pPr lvl="1"/>
            <a:r>
              <a:rPr lang="en-US" altLang="zh-CN" dirty="0"/>
              <a:t>float</a:t>
            </a:r>
            <a:r>
              <a:rPr lang="zh-CN" altLang="en-US" dirty="0"/>
              <a:t>：单精度浮点型</a:t>
            </a:r>
            <a:endParaRPr lang="en-US" altLang="zh-CN" dirty="0"/>
          </a:p>
          <a:p>
            <a:pPr lvl="1"/>
            <a:r>
              <a:rPr lang="en-US" altLang="zh-CN" dirty="0"/>
              <a:t>double</a:t>
            </a:r>
            <a:r>
              <a:rPr lang="zh-CN" altLang="en-US" dirty="0"/>
              <a:t>：双精度浮点型</a:t>
            </a:r>
            <a:endParaRPr lang="en-US" altLang="zh-CN" dirty="0"/>
          </a:p>
          <a:p>
            <a:r>
              <a:rPr lang="zh-CN" altLang="en-US" dirty="0"/>
              <a:t>命名规则：</a:t>
            </a:r>
            <a:endParaRPr lang="en-US" altLang="zh-CN" dirty="0"/>
          </a:p>
          <a:p>
            <a:pPr lvl="1"/>
            <a:r>
              <a:rPr lang="zh-CN" altLang="en-US" dirty="0"/>
              <a:t>可用字母（</a:t>
            </a:r>
            <a:r>
              <a:rPr lang="en-US" altLang="zh-CN" dirty="0"/>
              <a:t>a-z</a:t>
            </a:r>
            <a:r>
              <a:rPr lang="zh-CN" altLang="en-US" dirty="0"/>
              <a:t>）（</a:t>
            </a:r>
            <a:r>
              <a:rPr lang="en-US" altLang="zh-CN" dirty="0"/>
              <a:t>A-Z</a:t>
            </a:r>
            <a:r>
              <a:rPr lang="zh-CN" altLang="en-US" dirty="0"/>
              <a:t>）数字（</a:t>
            </a:r>
            <a:r>
              <a:rPr lang="en-US" altLang="zh-CN" dirty="0"/>
              <a:t>0-9</a:t>
            </a:r>
            <a:r>
              <a:rPr lang="zh-CN" altLang="en-US" dirty="0"/>
              <a:t>）以及下划线 </a:t>
            </a:r>
            <a:r>
              <a:rPr lang="en-US" altLang="zh-CN" dirty="0"/>
              <a:t>_ </a:t>
            </a:r>
            <a:r>
              <a:rPr lang="zh-CN" altLang="en-US" dirty="0"/>
              <a:t>进行命名</a:t>
            </a:r>
            <a:endParaRPr lang="en-US" altLang="zh-CN" dirty="0"/>
          </a:p>
          <a:p>
            <a:pPr lvl="1"/>
            <a:r>
              <a:rPr lang="zh-CN" altLang="en-US" dirty="0"/>
              <a:t>开头不能是数字</a:t>
            </a:r>
            <a:endParaRPr lang="en-US" altLang="zh-CN" dirty="0"/>
          </a:p>
          <a:p>
            <a:pPr lvl="1"/>
            <a:r>
              <a:rPr lang="zh-CN" altLang="en-US" dirty="0"/>
              <a:t>变量名不能是关键字（保留字）如：</a:t>
            </a:r>
            <a:r>
              <a:rPr lang="en-US" altLang="zh-CN" dirty="0" err="1"/>
              <a:t>int,long,char,if,for</a:t>
            </a:r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7444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常量与变量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8EDD57F2-6840-4D2E-B5C8-B54562A7C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5976" y="1215031"/>
            <a:ext cx="6245067" cy="2640531"/>
          </a:xfr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C7A6A7C-F0DA-48A2-BB9A-E952FAC13A34}"/>
              </a:ext>
            </a:extLst>
          </p:cNvPr>
          <p:cNvSpPr txBox="1"/>
          <p:nvPr/>
        </p:nvSpPr>
        <p:spPr>
          <a:xfrm>
            <a:off x="2025976" y="4703975"/>
            <a:ext cx="6817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变量声明后可用赋值运算符（</a:t>
            </a:r>
            <a:r>
              <a:rPr lang="en-US" altLang="zh-CN" dirty="0"/>
              <a:t>=</a:t>
            </a:r>
            <a:r>
              <a:rPr lang="zh-CN" altLang="en-US" dirty="0"/>
              <a:t>）进行赋值，常量声明后必须赋值</a:t>
            </a:r>
          </a:p>
        </p:txBody>
      </p:sp>
    </p:spTree>
    <p:extLst>
      <p:ext uri="{BB962C8B-B14F-4D97-AF65-F5344CB8AC3E}">
        <p14:creationId xmlns:p14="http://schemas.microsoft.com/office/powerpoint/2010/main" val="2986403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输入输出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9C9CED-701A-4124-B084-1A965800AB64}"/>
              </a:ext>
            </a:extLst>
          </p:cNvPr>
          <p:cNvSpPr txBox="1"/>
          <p:nvPr/>
        </p:nvSpPr>
        <p:spPr>
          <a:xfrm>
            <a:off x="838200" y="1331341"/>
            <a:ext cx="60652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当我们提到</a:t>
            </a:r>
            <a:r>
              <a:rPr lang="zh-CN" altLang="en-US" sz="2000" b="1" dirty="0"/>
              <a:t>输出</a:t>
            </a:r>
            <a:r>
              <a:rPr lang="zh-CN" altLang="en-US" sz="2000" dirty="0"/>
              <a:t>时，这意味着要在屏幕上、打印机上或任意文件中显示一些数据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40E321-DE69-4E91-B037-1A0EE1D5D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966604"/>
            <a:ext cx="6019800" cy="11334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9BCF946-D7D0-4218-8C67-3BC7C18AF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24100"/>
            <a:ext cx="61912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0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输入输出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116DD1-5546-4692-A397-BC1CEEB460D1}"/>
              </a:ext>
            </a:extLst>
          </p:cNvPr>
          <p:cNvSpPr txBox="1"/>
          <p:nvPr/>
        </p:nvSpPr>
        <p:spPr>
          <a:xfrm>
            <a:off x="1159497" y="114064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再看个栗子：</a:t>
            </a:r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1D3914B2-47E3-4EE9-97A2-F8BEF81EF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624" y="5164455"/>
            <a:ext cx="9425836" cy="1532888"/>
          </a:xfr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527AFE8-0E22-4D37-8D8B-06F8A0084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97" y="1509975"/>
            <a:ext cx="6023728" cy="35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39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输入输出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F066E1-FACF-4832-9649-0690513DE1CD}"/>
              </a:ext>
            </a:extLst>
          </p:cNvPr>
          <p:cNvSpPr txBox="1"/>
          <p:nvPr/>
        </p:nvSpPr>
        <p:spPr>
          <a:xfrm>
            <a:off x="914400" y="101809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再看个输入栗子：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9A574D6-74C4-41CF-816A-3B3D6CDFD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5388"/>
            <a:ext cx="4698829" cy="23657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A2056C1-FFC4-447D-8163-A94F73AC5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241558"/>
            <a:ext cx="4232855" cy="152764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9B5D0E0-EC86-42DB-B4FC-C882AE3F268B}"/>
              </a:ext>
            </a:extLst>
          </p:cNvPr>
          <p:cNvSpPr txBox="1"/>
          <p:nvPr/>
        </p:nvSpPr>
        <p:spPr>
          <a:xfrm>
            <a:off x="6183984" y="1941922"/>
            <a:ext cx="2651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输入格式：</a:t>
            </a:r>
            <a:endParaRPr lang="en-US" altLang="zh-CN" dirty="0"/>
          </a:p>
          <a:p>
            <a:r>
              <a:rPr lang="en-US" altLang="zh-CN" dirty="0" err="1"/>
              <a:t>scanf</a:t>
            </a:r>
            <a:r>
              <a:rPr lang="en-US" altLang="zh-CN" dirty="0"/>
              <a:t>(“</a:t>
            </a:r>
            <a:r>
              <a:rPr lang="zh-CN" altLang="en-US" dirty="0"/>
              <a:t>占位符</a:t>
            </a:r>
            <a:r>
              <a:rPr lang="en-US" altLang="zh-CN" dirty="0"/>
              <a:t>”,&amp;</a:t>
            </a:r>
            <a:r>
              <a:rPr lang="zh-CN" altLang="en-US" dirty="0"/>
              <a:t>变量名</a:t>
            </a:r>
            <a:r>
              <a:rPr lang="en-US" altLang="zh-CN" dirty="0"/>
              <a:t>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5768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输入输出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587EC9-2738-4009-A9E9-371EFF1B5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070"/>
            <a:ext cx="10515600" cy="5026893"/>
          </a:xfrm>
        </p:spPr>
        <p:txBody>
          <a:bodyPr/>
          <a:lstStyle/>
          <a:p>
            <a:r>
              <a:rPr lang="zh-CN" altLang="en-US" dirty="0"/>
              <a:t>占位符：</a:t>
            </a:r>
            <a:endParaRPr lang="en-US" altLang="zh-CN" dirty="0"/>
          </a:p>
          <a:p>
            <a:pPr lvl="1"/>
            <a:r>
              <a:rPr lang="en-US" altLang="zh-CN" dirty="0">
                <a:latin typeface="Times New Roman" panose="02020603050405020304" pitchFamily="18" charset="0"/>
              </a:rPr>
              <a:t>%d: int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</a:rPr>
              <a:t>%c: char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</a:rPr>
              <a:t>%</a:t>
            </a:r>
            <a:r>
              <a:rPr lang="en-US" altLang="zh-CN" dirty="0" err="1">
                <a:latin typeface="Times New Roman" panose="02020603050405020304" pitchFamily="18" charset="0"/>
              </a:rPr>
              <a:t>lld</a:t>
            </a:r>
            <a:r>
              <a:rPr lang="en-US" altLang="zh-CN" dirty="0">
                <a:latin typeface="Times New Roman" panose="02020603050405020304" pitchFamily="18" charset="0"/>
              </a:rPr>
              <a:t> %I64d:long long  </a:t>
            </a:r>
            <a:r>
              <a:rPr lang="zh-CN" altLang="en-US" dirty="0">
                <a:latin typeface="Times New Roman" panose="02020603050405020304" pitchFamily="18" charset="0"/>
              </a:rPr>
              <a:t>不同编译器有所差别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</a:rPr>
              <a:t>%</a:t>
            </a:r>
            <a:r>
              <a:rPr lang="en-US" altLang="zh-CN" dirty="0" err="1">
                <a:latin typeface="Times New Roman" panose="02020603050405020304" pitchFamily="18" charset="0"/>
              </a:rPr>
              <a:t>f:float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</a:rPr>
              <a:t>%</a:t>
            </a:r>
            <a:r>
              <a:rPr lang="en-US" altLang="zh-CN" dirty="0" err="1">
                <a:latin typeface="Times New Roman" panose="02020603050405020304" pitchFamily="18" charset="0"/>
              </a:rPr>
              <a:t>lf</a:t>
            </a:r>
            <a:r>
              <a:rPr lang="en-US" altLang="zh-CN" dirty="0">
                <a:latin typeface="Times New Roman" panose="02020603050405020304" pitchFamily="18" charset="0"/>
              </a:rPr>
              <a:t> :double 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</a:rPr>
              <a:t>%s:  </a:t>
            </a:r>
            <a:r>
              <a:rPr lang="zh-CN" altLang="en-US" dirty="0">
                <a:latin typeface="Times New Roman" panose="02020603050405020304" pitchFamily="18" charset="0"/>
              </a:rPr>
              <a:t>字符串（ 下节课学）</a:t>
            </a:r>
          </a:p>
        </p:txBody>
      </p:sp>
    </p:spTree>
    <p:extLst>
      <p:ext uri="{BB962C8B-B14F-4D97-AF65-F5344CB8AC3E}">
        <p14:creationId xmlns:p14="http://schemas.microsoft.com/office/powerpoint/2010/main" val="3342934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运算符与表达式</a:t>
            </a:r>
            <a:r>
              <a:rPr lang="en-US" altLang="zh-CN" sz="3200" dirty="0"/>
              <a:t>——</a:t>
            </a:r>
            <a:r>
              <a:rPr lang="zh-CN" altLang="en-US" sz="3200" dirty="0"/>
              <a:t>算数运算符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9027D7-5FCF-41D2-8BD3-07F9198279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95" b="9552"/>
          <a:stretch/>
        </p:blipFill>
        <p:spPr>
          <a:xfrm>
            <a:off x="729476" y="1371333"/>
            <a:ext cx="5166850" cy="28860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3480DD9-0396-43BF-8032-F7953A2F59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42"/>
          <a:stretch/>
        </p:blipFill>
        <p:spPr>
          <a:xfrm>
            <a:off x="729476" y="4600432"/>
            <a:ext cx="5243975" cy="17716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757EC06-A099-4AF0-A49A-7B45A686C64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85" b="8735"/>
          <a:stretch/>
        </p:blipFill>
        <p:spPr>
          <a:xfrm>
            <a:off x="6285650" y="1371333"/>
            <a:ext cx="5181600" cy="28860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918FA46-1D98-4DDA-BB08-FF5AC86E26C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10145"/>
          <a:stretch/>
        </p:blipFill>
        <p:spPr>
          <a:xfrm>
            <a:off x="6285650" y="4600432"/>
            <a:ext cx="518160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33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运算符与表达式</a:t>
            </a:r>
            <a:r>
              <a:rPr lang="en-US" altLang="zh-CN" sz="3200" dirty="0"/>
              <a:t>——</a:t>
            </a:r>
            <a:r>
              <a:rPr lang="zh-CN" altLang="en-US" sz="3200" dirty="0"/>
              <a:t>关系运算符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9C7D3E3-1419-478D-B22E-A665A2629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136187"/>
              </p:ext>
            </p:extLst>
          </p:nvPr>
        </p:nvGraphicFramePr>
        <p:xfrm>
          <a:off x="913615" y="1740783"/>
          <a:ext cx="9348189" cy="4468325"/>
        </p:xfrm>
        <a:graphic>
          <a:graphicData uri="http://schemas.openxmlformats.org/drawingml/2006/table">
            <a:tbl>
              <a:tblPr/>
              <a:tblGrid>
                <a:gridCol w="3116063">
                  <a:extLst>
                    <a:ext uri="{9D8B030D-6E8A-4147-A177-3AD203B41FA5}">
                      <a16:colId xmlns:a16="http://schemas.microsoft.com/office/drawing/2014/main" val="3916119696"/>
                    </a:ext>
                  </a:extLst>
                </a:gridCol>
                <a:gridCol w="3116063">
                  <a:extLst>
                    <a:ext uri="{9D8B030D-6E8A-4147-A177-3AD203B41FA5}">
                      <a16:colId xmlns:a16="http://schemas.microsoft.com/office/drawing/2014/main" val="1376305866"/>
                    </a:ext>
                  </a:extLst>
                </a:gridCol>
                <a:gridCol w="3116063">
                  <a:extLst>
                    <a:ext uri="{9D8B030D-6E8A-4147-A177-3AD203B41FA5}">
                      <a16:colId xmlns:a16="http://schemas.microsoft.com/office/drawing/2014/main" val="910346925"/>
                    </a:ext>
                  </a:extLst>
                </a:gridCol>
              </a:tblGrid>
              <a:tr h="23517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effectLst/>
                        </a:rPr>
                        <a:t>运算符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 dirty="0">
                          <a:effectLst/>
                        </a:rPr>
                        <a:t>描述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b="1">
                          <a:effectLst/>
                        </a:rPr>
                        <a:t>实例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421507"/>
                  </a:ext>
                </a:extLst>
              </a:tr>
              <a:tr h="587937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effectLst/>
                        </a:rPr>
                        <a:t>==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effectLst/>
                        </a:rPr>
                        <a:t>检查两个操作数的值是否相等，如果相等则条件为真。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effectLst/>
                        </a:rPr>
                        <a:t>(A == B) </a:t>
                      </a:r>
                      <a:r>
                        <a:rPr lang="zh-CN" altLang="en-US" sz="1100" dirty="0">
                          <a:effectLst/>
                        </a:rPr>
                        <a:t>不为真。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315752"/>
                  </a:ext>
                </a:extLst>
              </a:tr>
              <a:tr h="587937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effectLst/>
                        </a:rPr>
                        <a:t>!=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effectLst/>
                        </a:rPr>
                        <a:t>检查两个操作数的值是否相等，如果不相等则条件为真。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effectLst/>
                        </a:rPr>
                        <a:t>(A != B) </a:t>
                      </a:r>
                      <a:r>
                        <a:rPr lang="zh-CN" altLang="en-US" sz="1100">
                          <a:effectLst/>
                        </a:rPr>
                        <a:t>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283359"/>
                  </a:ext>
                </a:extLst>
              </a:tr>
              <a:tr h="76431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effectLst/>
                        </a:rPr>
                        <a:t>&gt;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effectLst/>
                        </a:rPr>
                        <a:t>检查左操作数的值是否大于右操作数的值，如果是则条件为真。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effectLst/>
                        </a:rPr>
                        <a:t>(A &gt; B) </a:t>
                      </a:r>
                      <a:r>
                        <a:rPr lang="zh-CN" altLang="en-US" sz="1100" dirty="0">
                          <a:effectLst/>
                        </a:rPr>
                        <a:t>不为真。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86331"/>
                  </a:ext>
                </a:extLst>
              </a:tr>
              <a:tr h="76431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effectLst/>
                        </a:rPr>
                        <a:t>&lt;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effectLst/>
                        </a:rPr>
                        <a:t>检查左操作数的值是否小于右操作数的值，如果是则条件为真。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effectLst/>
                        </a:rPr>
                        <a:t>(A &lt; B) </a:t>
                      </a:r>
                      <a:r>
                        <a:rPr lang="zh-CN" altLang="en-US" sz="1100" dirty="0">
                          <a:effectLst/>
                        </a:rPr>
                        <a:t>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818458"/>
                  </a:ext>
                </a:extLst>
              </a:tr>
              <a:tr h="76431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effectLst/>
                        </a:rPr>
                        <a:t>&gt;=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effectLst/>
                        </a:rPr>
                        <a:t>检查左操作数的值是否大于或等于右操作数的值，如果是则条件为真。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effectLst/>
                        </a:rPr>
                        <a:t>(A &gt;= B) </a:t>
                      </a:r>
                      <a:r>
                        <a:rPr lang="zh-CN" altLang="en-US" sz="1100">
                          <a:effectLst/>
                        </a:rPr>
                        <a:t>不为真。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762125"/>
                  </a:ext>
                </a:extLst>
              </a:tr>
              <a:tr h="76431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>
                          <a:effectLst/>
                        </a:rPr>
                        <a:t>&lt;=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>
                          <a:effectLst/>
                        </a:rPr>
                        <a:t>检查左操作数的值是否小于或等于右操作数的值，如果是则条件为真。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effectLst/>
                        </a:rPr>
                        <a:t>(A &lt;= B) </a:t>
                      </a:r>
                      <a:r>
                        <a:rPr lang="zh-CN" altLang="en-US" sz="1100" dirty="0">
                          <a:effectLst/>
                        </a:rPr>
                        <a:t>为真。</a:t>
                      </a:r>
                    </a:p>
                  </a:txBody>
                  <a:tcPr marL="62026" marR="62026" marT="28627" marB="28627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94591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A140248-C2BC-4DAF-92A3-FA3251DA94F9}"/>
              </a:ext>
            </a:extLst>
          </p:cNvPr>
          <p:cNvSpPr txBox="1"/>
          <p:nvPr/>
        </p:nvSpPr>
        <p:spPr>
          <a:xfrm>
            <a:off x="838200" y="1282045"/>
            <a:ext cx="17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 </a:t>
            </a:r>
            <a:r>
              <a:rPr lang="en-US" altLang="zh-CN" dirty="0"/>
              <a:t>int A=1,B=2;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7975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运算符与表达式</a:t>
            </a:r>
            <a:r>
              <a:rPr lang="en-US" altLang="zh-CN" sz="3200" dirty="0"/>
              <a:t>——</a:t>
            </a:r>
            <a:r>
              <a:rPr lang="zh-CN" altLang="en-US" sz="3200" dirty="0"/>
              <a:t>逻辑运算符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BCA4B01-B58D-4B63-9C7B-8BD9074E452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9010836" cy="3873900"/>
        </p:xfrm>
        <a:graphic>
          <a:graphicData uri="http://schemas.openxmlformats.org/drawingml/2006/table">
            <a:tbl>
              <a:tblPr/>
              <a:tblGrid>
                <a:gridCol w="3003612">
                  <a:extLst>
                    <a:ext uri="{9D8B030D-6E8A-4147-A177-3AD203B41FA5}">
                      <a16:colId xmlns:a16="http://schemas.microsoft.com/office/drawing/2014/main" val="3301947763"/>
                    </a:ext>
                  </a:extLst>
                </a:gridCol>
                <a:gridCol w="3003612">
                  <a:extLst>
                    <a:ext uri="{9D8B030D-6E8A-4147-A177-3AD203B41FA5}">
                      <a16:colId xmlns:a16="http://schemas.microsoft.com/office/drawing/2014/main" val="3069126031"/>
                    </a:ext>
                  </a:extLst>
                </a:gridCol>
                <a:gridCol w="3003612">
                  <a:extLst>
                    <a:ext uri="{9D8B030D-6E8A-4147-A177-3AD203B41FA5}">
                      <a16:colId xmlns:a16="http://schemas.microsoft.com/office/drawing/2014/main" val="3424528462"/>
                    </a:ext>
                  </a:extLst>
                </a:gridCol>
              </a:tblGrid>
              <a:tr h="418800">
                <a:tc>
                  <a:txBody>
                    <a:bodyPr/>
                    <a:lstStyle/>
                    <a:p>
                      <a:pPr algn="l"/>
                      <a:r>
                        <a:rPr lang="zh-CN" altLang="en-US" b="1">
                          <a:effectLst/>
                        </a:rPr>
                        <a:t>运算符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>
                          <a:effectLst/>
                        </a:rPr>
                        <a:t>描述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1">
                          <a:effectLst/>
                        </a:rPr>
                        <a:t>实例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951674"/>
                  </a:ext>
                </a:extLst>
              </a:tr>
              <a:tr h="104700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effectLst/>
                        </a:rPr>
                        <a:t>&amp;&amp;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称为逻辑与运算符。如果两个操作数都非零，则条件为真。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(A &amp;&amp; B) </a:t>
                      </a:r>
                      <a:r>
                        <a:rPr lang="zh-CN" altLang="en-US">
                          <a:effectLst/>
                        </a:rPr>
                        <a:t>为假。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267545"/>
                  </a:ext>
                </a:extLst>
              </a:tr>
              <a:tr h="104700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effectLst/>
                        </a:rPr>
                        <a:t>||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称为逻辑或运算符。如果两个操作数中有任意一个非零，则条件为真。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(A || B) </a:t>
                      </a:r>
                      <a:r>
                        <a:rPr lang="zh-CN" altLang="en-US">
                          <a:effectLst/>
                        </a:rPr>
                        <a:t>为真。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179997"/>
                  </a:ext>
                </a:extLst>
              </a:tr>
              <a:tr h="1361100"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!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>
                          <a:effectLst/>
                        </a:rPr>
                        <a:t>称为逻辑非运算符。用来逆转操作数的逻辑状态。如果条件为真则逻辑非运算符将使其为假。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!(A &amp;&amp; B) </a:t>
                      </a:r>
                      <a:r>
                        <a:rPr lang="zh-CN" altLang="en-US" dirty="0">
                          <a:effectLst/>
                        </a:rPr>
                        <a:t>为真。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18023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E391B4B-9A11-4A7B-959F-FB92DADE0275}"/>
              </a:ext>
            </a:extLst>
          </p:cNvPr>
          <p:cNvSpPr txBox="1"/>
          <p:nvPr/>
        </p:nvSpPr>
        <p:spPr>
          <a:xfrm>
            <a:off x="838200" y="1282045"/>
            <a:ext cx="17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 </a:t>
            </a:r>
            <a:r>
              <a:rPr lang="en-US" altLang="zh-CN" dirty="0"/>
              <a:t>int A=0,B=1;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08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运算符与表达式</a:t>
            </a:r>
            <a:r>
              <a:rPr lang="en-US" altLang="zh-CN" sz="3200" dirty="0"/>
              <a:t>——</a:t>
            </a:r>
            <a:r>
              <a:rPr lang="zh-CN" altLang="en-US" sz="3200" dirty="0"/>
              <a:t>位运算符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3B01073-6787-4C49-8CE2-62671EA9B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884122"/>
              </p:ext>
            </p:extLst>
          </p:nvPr>
        </p:nvGraphicFramePr>
        <p:xfrm>
          <a:off x="838200" y="1231736"/>
          <a:ext cx="7643675" cy="3382390"/>
        </p:xfrm>
        <a:graphic>
          <a:graphicData uri="http://schemas.openxmlformats.org/drawingml/2006/table">
            <a:tbl>
              <a:tblPr/>
              <a:tblGrid>
                <a:gridCol w="1528735">
                  <a:extLst>
                    <a:ext uri="{9D8B030D-6E8A-4147-A177-3AD203B41FA5}">
                      <a16:colId xmlns:a16="http://schemas.microsoft.com/office/drawing/2014/main" val="792795235"/>
                    </a:ext>
                  </a:extLst>
                </a:gridCol>
                <a:gridCol w="1528735">
                  <a:extLst>
                    <a:ext uri="{9D8B030D-6E8A-4147-A177-3AD203B41FA5}">
                      <a16:colId xmlns:a16="http://schemas.microsoft.com/office/drawing/2014/main" val="3473282567"/>
                    </a:ext>
                  </a:extLst>
                </a:gridCol>
                <a:gridCol w="1528735">
                  <a:extLst>
                    <a:ext uri="{9D8B030D-6E8A-4147-A177-3AD203B41FA5}">
                      <a16:colId xmlns:a16="http://schemas.microsoft.com/office/drawing/2014/main" val="3240883975"/>
                    </a:ext>
                  </a:extLst>
                </a:gridCol>
                <a:gridCol w="1528735">
                  <a:extLst>
                    <a:ext uri="{9D8B030D-6E8A-4147-A177-3AD203B41FA5}">
                      <a16:colId xmlns:a16="http://schemas.microsoft.com/office/drawing/2014/main" val="3983028080"/>
                    </a:ext>
                  </a:extLst>
                </a:gridCol>
                <a:gridCol w="1528735">
                  <a:extLst>
                    <a:ext uri="{9D8B030D-6E8A-4147-A177-3AD203B41FA5}">
                      <a16:colId xmlns:a16="http://schemas.microsoft.com/office/drawing/2014/main" val="2006808727"/>
                    </a:ext>
                  </a:extLst>
                </a:gridCol>
              </a:tblGrid>
              <a:tr h="676478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p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q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p &amp; q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p | q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p ^ q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67046"/>
                  </a:ext>
                </a:extLst>
              </a:tr>
              <a:tr h="676478"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661441"/>
                  </a:ext>
                </a:extLst>
              </a:tr>
              <a:tr h="676478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599929"/>
                  </a:ext>
                </a:extLst>
              </a:tr>
              <a:tr h="676478"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9366"/>
                  </a:ext>
                </a:extLst>
              </a:tr>
              <a:tr h="676478"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0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effectLst/>
                        </a:rPr>
                        <a:t>1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3572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FBF6E65-0161-45B3-8902-3E0B6F05FCFF}"/>
              </a:ext>
            </a:extLst>
          </p:cNvPr>
          <p:cNvSpPr txBox="1"/>
          <p:nvPr/>
        </p:nvSpPr>
        <p:spPr>
          <a:xfrm>
            <a:off x="838200" y="4749101"/>
            <a:ext cx="2677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现在假设</a:t>
            </a:r>
            <a:r>
              <a:rPr lang="en-US" altLang="zh-CN" dirty="0"/>
              <a:t>A=60</a:t>
            </a:r>
            <a:r>
              <a:rPr lang="zh-CN" altLang="en-US" dirty="0"/>
              <a:t>，</a:t>
            </a:r>
            <a:r>
              <a:rPr lang="en-US" altLang="zh-CN" dirty="0"/>
              <a:t>B=13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0D4DFE-6EF6-4C9E-8608-C7B6D380749A}"/>
              </a:ext>
            </a:extLst>
          </p:cNvPr>
          <p:cNvSpPr txBox="1"/>
          <p:nvPr/>
        </p:nvSpPr>
        <p:spPr>
          <a:xfrm>
            <a:off x="3774272" y="4749101"/>
            <a:ext cx="38617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的二进制格式为</a:t>
            </a:r>
            <a:r>
              <a:rPr lang="en-US" altLang="zh-CN" dirty="0"/>
              <a:t>0011 1100</a:t>
            </a:r>
          </a:p>
          <a:p>
            <a:r>
              <a:rPr lang="en-US" altLang="zh-CN" dirty="0"/>
              <a:t>B</a:t>
            </a:r>
            <a:r>
              <a:rPr lang="zh-CN" altLang="en-US" dirty="0"/>
              <a:t>的二进制格式为</a:t>
            </a:r>
            <a:r>
              <a:rPr lang="en-US" altLang="zh-CN" dirty="0"/>
              <a:t>0000 1101</a:t>
            </a:r>
          </a:p>
          <a:p>
            <a:r>
              <a:rPr lang="en-US" altLang="zh-CN" dirty="0"/>
              <a:t>A&amp;B</a:t>
            </a:r>
            <a:r>
              <a:rPr lang="zh-CN" altLang="en-US" dirty="0"/>
              <a:t>的二进制格式为</a:t>
            </a:r>
            <a:r>
              <a:rPr lang="en-US" altLang="zh-CN" dirty="0"/>
              <a:t>0000 1100</a:t>
            </a:r>
          </a:p>
          <a:p>
            <a:r>
              <a:rPr lang="en-US" altLang="zh-CN" dirty="0"/>
              <a:t>A|B</a:t>
            </a:r>
            <a:r>
              <a:rPr lang="zh-CN" altLang="en-US" dirty="0"/>
              <a:t>的二进制格式为</a:t>
            </a:r>
            <a:r>
              <a:rPr lang="en-US" altLang="zh-CN" dirty="0"/>
              <a:t>0011 1101</a:t>
            </a:r>
          </a:p>
          <a:p>
            <a:r>
              <a:rPr lang="en-US" altLang="zh-CN" dirty="0"/>
              <a:t>A^B</a:t>
            </a:r>
            <a:r>
              <a:rPr lang="zh-CN" altLang="en-US" dirty="0"/>
              <a:t>的二进制格式为</a:t>
            </a:r>
            <a:r>
              <a:rPr lang="en-US" altLang="zh-CN" dirty="0"/>
              <a:t>0011 0001</a:t>
            </a:r>
          </a:p>
          <a:p>
            <a:r>
              <a:rPr lang="zh-CN" altLang="en-US" dirty="0"/>
              <a:t>所以</a:t>
            </a:r>
            <a:r>
              <a:rPr lang="en-US" altLang="zh-CN" dirty="0"/>
              <a:t>A&amp;B=12</a:t>
            </a:r>
            <a:r>
              <a:rPr lang="zh-CN" altLang="en-US" dirty="0"/>
              <a:t>，</a:t>
            </a:r>
            <a:r>
              <a:rPr lang="en-US" altLang="zh-CN" dirty="0"/>
              <a:t>A|B=61</a:t>
            </a:r>
            <a:r>
              <a:rPr lang="zh-CN" altLang="en-US" dirty="0"/>
              <a:t>，</a:t>
            </a:r>
            <a:r>
              <a:rPr lang="en-US" altLang="zh-CN" dirty="0"/>
              <a:t>A^B=49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604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运算符与表达式</a:t>
            </a:r>
            <a:r>
              <a:rPr lang="en-US" altLang="zh-CN" sz="3200" dirty="0"/>
              <a:t>——</a:t>
            </a:r>
            <a:r>
              <a:rPr lang="zh-CN" altLang="en-US" sz="3200" dirty="0"/>
              <a:t>位运算符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4529E6-D614-40E1-ADEA-E3EE3FD15C76}"/>
              </a:ext>
            </a:extLst>
          </p:cNvPr>
          <p:cNvSpPr txBox="1"/>
          <p:nvPr/>
        </p:nvSpPr>
        <p:spPr>
          <a:xfrm>
            <a:off x="1061476" y="1259533"/>
            <a:ext cx="7922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左移运算符：</a:t>
            </a:r>
            <a:r>
              <a:rPr lang="en-US" altLang="zh-CN" sz="2400" dirty="0"/>
              <a:t>&lt;&lt;  </a:t>
            </a:r>
            <a:r>
              <a:rPr lang="zh-CN" altLang="en-US" sz="2400" dirty="0"/>
              <a:t>相当于乘</a:t>
            </a:r>
            <a:r>
              <a:rPr lang="en-US" altLang="zh-CN" sz="2400" dirty="0"/>
              <a:t>2</a:t>
            </a:r>
          </a:p>
          <a:p>
            <a:r>
              <a:rPr lang="zh-CN" altLang="en-US" sz="2400" dirty="0"/>
              <a:t>右移运算符：</a:t>
            </a:r>
            <a:r>
              <a:rPr lang="en-US" altLang="zh-CN" sz="2400" dirty="0"/>
              <a:t>&gt;&gt;  </a:t>
            </a:r>
            <a:r>
              <a:rPr lang="zh-CN" altLang="en-US" sz="2400" dirty="0"/>
              <a:t>相当于除以</a:t>
            </a:r>
            <a:r>
              <a:rPr lang="en-US" altLang="zh-CN" sz="2400" dirty="0"/>
              <a:t>2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7AAB2-98CB-44D2-95C8-C990DA86935A}"/>
              </a:ext>
            </a:extLst>
          </p:cNvPr>
          <p:cNvSpPr txBox="1"/>
          <p:nvPr/>
        </p:nvSpPr>
        <p:spPr>
          <a:xfrm>
            <a:off x="1061476" y="2090530"/>
            <a:ext cx="77146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假设</a:t>
            </a:r>
            <a:r>
              <a:rPr lang="en-US" altLang="zh-CN" sz="2400" dirty="0"/>
              <a:t>A=60</a:t>
            </a:r>
          </a:p>
          <a:p>
            <a:r>
              <a:rPr lang="en-US" altLang="zh-CN" sz="2400" dirty="0"/>
              <a:t>A</a:t>
            </a:r>
            <a:r>
              <a:rPr lang="zh-CN" altLang="en-US" sz="2400" dirty="0"/>
              <a:t>的二进制格式为</a:t>
            </a:r>
            <a:r>
              <a:rPr lang="en-US" altLang="zh-CN" sz="2400" dirty="0"/>
              <a:t>0011 1100</a:t>
            </a:r>
          </a:p>
          <a:p>
            <a:r>
              <a:rPr lang="en-US" altLang="zh-CN" sz="2400" dirty="0"/>
              <a:t>A&lt;&lt;2</a:t>
            </a:r>
            <a:r>
              <a:rPr lang="zh-CN" altLang="en-US" sz="2400" dirty="0"/>
              <a:t>表示把</a:t>
            </a:r>
            <a:r>
              <a:rPr lang="en-US" altLang="zh-CN" sz="2400" dirty="0"/>
              <a:t>A</a:t>
            </a:r>
            <a:r>
              <a:rPr lang="zh-CN" altLang="en-US" sz="2400" dirty="0"/>
              <a:t>的二进制向左移两位，在末尾补零</a:t>
            </a:r>
            <a:endParaRPr lang="en-US" altLang="zh-CN" sz="2400" dirty="0"/>
          </a:p>
          <a:p>
            <a:r>
              <a:rPr lang="zh-CN" altLang="en-US" sz="2400" dirty="0"/>
              <a:t>左移后的二进制格式为</a:t>
            </a:r>
            <a:r>
              <a:rPr lang="en-US" altLang="zh-CN" sz="2400" dirty="0"/>
              <a:t>1111 0000</a:t>
            </a:r>
          </a:p>
          <a:p>
            <a:r>
              <a:rPr lang="en-US" altLang="zh-CN" sz="2400" dirty="0"/>
              <a:t>A&gt;&gt;2</a:t>
            </a:r>
            <a:r>
              <a:rPr lang="zh-CN" altLang="en-US" sz="2400" dirty="0"/>
              <a:t>表示把</a:t>
            </a:r>
            <a:r>
              <a:rPr lang="en-US" altLang="zh-CN" sz="2400" dirty="0"/>
              <a:t>A</a:t>
            </a:r>
            <a:r>
              <a:rPr lang="zh-CN" altLang="en-US" sz="2400" dirty="0"/>
              <a:t>的二进制向右移两位，在前面加零</a:t>
            </a:r>
            <a:endParaRPr lang="en-US" altLang="zh-CN" sz="2400" dirty="0"/>
          </a:p>
          <a:p>
            <a:r>
              <a:rPr lang="zh-CN" altLang="en-US" sz="2400" dirty="0"/>
              <a:t>右移后的二进制格式为</a:t>
            </a:r>
            <a:r>
              <a:rPr lang="en-US" altLang="zh-CN" sz="2400" dirty="0"/>
              <a:t>0000 1111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5E2F9F-DFDC-4D5A-BFBF-7FB088B4DC7F}"/>
              </a:ext>
            </a:extLst>
          </p:cNvPr>
          <p:cNvSpPr txBox="1"/>
          <p:nvPr/>
        </p:nvSpPr>
        <p:spPr>
          <a:xfrm>
            <a:off x="1061476" y="4388238"/>
            <a:ext cx="693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假设</a:t>
            </a:r>
            <a:r>
              <a:rPr lang="en-US" altLang="zh-CN" sz="2400" dirty="0"/>
              <a:t>B</a:t>
            </a:r>
            <a:r>
              <a:rPr lang="zh-CN" altLang="en-US" sz="2400" dirty="0"/>
              <a:t>的二进制格式为</a:t>
            </a:r>
            <a:r>
              <a:rPr lang="en-US" altLang="zh-CN" sz="2400" dirty="0"/>
              <a:t>1111 0011</a:t>
            </a:r>
          </a:p>
          <a:p>
            <a:r>
              <a:rPr lang="zh-CN" altLang="en-US" sz="2400" dirty="0"/>
              <a:t>那么左移两位和右移两位后的结果是什么？</a:t>
            </a: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737978-F09E-415B-B3EF-893ACFB40DDA}"/>
              </a:ext>
            </a:extLst>
          </p:cNvPr>
          <p:cNvSpPr txBox="1"/>
          <p:nvPr/>
        </p:nvSpPr>
        <p:spPr>
          <a:xfrm>
            <a:off x="1061476" y="5219235"/>
            <a:ext cx="5761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B&lt;&lt;2</a:t>
            </a:r>
            <a:r>
              <a:rPr lang="zh-CN" altLang="en-US" sz="2400" dirty="0"/>
              <a:t>的结果为</a:t>
            </a:r>
            <a:r>
              <a:rPr lang="en-US" altLang="zh-CN" sz="2400" dirty="0"/>
              <a:t>0011 1100 1100</a:t>
            </a:r>
          </a:p>
          <a:p>
            <a:r>
              <a:rPr lang="en-US" altLang="zh-CN" sz="2400" dirty="0"/>
              <a:t>B&gt;&gt;2</a:t>
            </a:r>
            <a:r>
              <a:rPr lang="zh-CN" altLang="en-US" sz="2400" dirty="0"/>
              <a:t>的结果为</a:t>
            </a:r>
            <a:r>
              <a:rPr lang="en-US" altLang="zh-CN" sz="2400" dirty="0"/>
              <a:t>0011 1100</a:t>
            </a:r>
          </a:p>
        </p:txBody>
      </p:sp>
    </p:spTree>
    <p:extLst>
      <p:ext uri="{BB962C8B-B14F-4D97-AF65-F5344CB8AC3E}">
        <p14:creationId xmlns:p14="http://schemas.microsoft.com/office/powerpoint/2010/main" val="2803056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运算符与表达式</a:t>
            </a:r>
            <a:r>
              <a:rPr lang="en-US" altLang="zh-CN" sz="3200" dirty="0"/>
              <a:t>——</a:t>
            </a:r>
            <a:r>
              <a:rPr lang="zh-CN" altLang="en-US" sz="3200" dirty="0"/>
              <a:t>位运算符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DC019A-A19A-4F15-9FD5-D652722E7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11135"/>
            <a:ext cx="6819541" cy="4503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710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运算符与表达式</a:t>
            </a:r>
            <a:r>
              <a:rPr lang="en-US" altLang="zh-CN" sz="3200" dirty="0"/>
              <a:t>——</a:t>
            </a:r>
            <a:r>
              <a:rPr lang="zh-CN" altLang="en-US" sz="3200" dirty="0"/>
              <a:t>类型转换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4CC2B6E-B965-45A4-847A-9390875E5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084" y="1253077"/>
            <a:ext cx="6900317" cy="231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96A66D5-22A3-4D6C-8CBE-A0FE34382F43}"/>
              </a:ext>
            </a:extLst>
          </p:cNvPr>
          <p:cNvSpPr txBox="1"/>
          <p:nvPr/>
        </p:nvSpPr>
        <p:spPr>
          <a:xfrm>
            <a:off x="980388" y="187163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隐式类型转换：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D74E40-B441-424D-ADFD-8AA6A3B52271}"/>
              </a:ext>
            </a:extLst>
          </p:cNvPr>
          <p:cNvSpPr txBox="1"/>
          <p:nvPr/>
        </p:nvSpPr>
        <p:spPr>
          <a:xfrm>
            <a:off x="980387" y="514463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显式类型转换：</a:t>
            </a:r>
            <a:endParaRPr lang="en-US" altLang="zh-CN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3EB238E-EB7F-4327-A377-9AB726F41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425" y="4005703"/>
            <a:ext cx="4727149" cy="2647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914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选择结构</a:t>
            </a:r>
            <a:r>
              <a:rPr lang="en-US" altLang="zh-CN" sz="3200" dirty="0"/>
              <a:t>——if</a:t>
            </a:r>
            <a:r>
              <a:rPr lang="zh-CN" altLang="en-US" sz="3200" dirty="0"/>
              <a:t>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24F1A4-8286-44EA-860A-63AE277A2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597" y="1131298"/>
            <a:ext cx="3636238" cy="45954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681E29-526D-4C69-87AC-7422BBE1C0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9"/>
          <a:stretch/>
        </p:blipFill>
        <p:spPr>
          <a:xfrm>
            <a:off x="5240322" y="4446418"/>
            <a:ext cx="5471789" cy="13716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13D4D7F-6A40-416C-8ECD-AE96D5F23A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" r="-1"/>
          <a:stretch/>
        </p:blipFill>
        <p:spPr>
          <a:xfrm>
            <a:off x="5240322" y="807868"/>
            <a:ext cx="5471789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430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选择结构</a:t>
            </a:r>
            <a:r>
              <a:rPr lang="en-US" altLang="zh-CN" sz="3200" dirty="0"/>
              <a:t>——if…else</a:t>
            </a:r>
            <a:r>
              <a:rPr lang="zh-CN" altLang="en-US" sz="3200" dirty="0"/>
              <a:t>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C8AB30-682D-47FB-B9B1-FBCA477AB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15" y="1652226"/>
            <a:ext cx="3604196" cy="46093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0C60DD-3CC5-47E7-B7D8-A55716DF7E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6"/>
          <a:stretch/>
        </p:blipFill>
        <p:spPr>
          <a:xfrm>
            <a:off x="5809557" y="1267121"/>
            <a:ext cx="4364253" cy="33089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D95BEAD-CD92-46CE-B342-C0C34AA40A3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" r="9641"/>
          <a:stretch/>
        </p:blipFill>
        <p:spPr>
          <a:xfrm>
            <a:off x="5809557" y="4576118"/>
            <a:ext cx="5184559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112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选择结构</a:t>
            </a:r>
            <a:r>
              <a:rPr lang="en-US" altLang="zh-CN" sz="3200" dirty="0"/>
              <a:t>——if…else if…else</a:t>
            </a:r>
            <a:r>
              <a:rPr lang="zh-CN" altLang="en-US" sz="3200" dirty="0"/>
              <a:t>结构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1BC295-3D9C-492E-B564-534200D09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381"/>
          <a:stretch/>
        </p:blipFill>
        <p:spPr>
          <a:xfrm>
            <a:off x="577234" y="1375331"/>
            <a:ext cx="5255395" cy="52197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5301D1-125D-4F1B-AD4C-1BC00486F3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71"/>
          <a:stretch/>
        </p:blipFill>
        <p:spPr>
          <a:xfrm>
            <a:off x="6096000" y="1629768"/>
            <a:ext cx="5678287" cy="11525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0CB3844-C004-4F13-8772-B915C4C7AA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4" b="16916"/>
          <a:stretch/>
        </p:blipFill>
        <p:spPr>
          <a:xfrm>
            <a:off x="6096000" y="2782293"/>
            <a:ext cx="5678287" cy="12028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001FAE6-B174-494E-8944-0B4B15D6B43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6"/>
          <a:stretch/>
        </p:blipFill>
        <p:spPr>
          <a:xfrm>
            <a:off x="6096000" y="3985181"/>
            <a:ext cx="5678287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54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选择结构</a:t>
            </a:r>
            <a:r>
              <a:rPr lang="en-US" altLang="zh-CN" sz="3200" dirty="0"/>
              <a:t>——switch case</a:t>
            </a:r>
            <a:r>
              <a:rPr lang="zh-CN" altLang="en-US" sz="3200" dirty="0"/>
              <a:t>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5E3CC6-3141-4280-B891-2F7BF036B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08241"/>
            <a:ext cx="3536365" cy="47424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34E8F14-DB79-42F9-B059-4F43189EF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045" y="170092"/>
            <a:ext cx="4630939" cy="52970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AAD65C0-D2DA-46F8-9EED-D205DB1C13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3" t="5807" r="55184" b="69144"/>
          <a:stretch/>
        </p:blipFill>
        <p:spPr>
          <a:xfrm>
            <a:off x="6506045" y="5467125"/>
            <a:ext cx="5203962" cy="152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41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选择结构</a:t>
            </a:r>
            <a:r>
              <a:rPr lang="en-US" altLang="zh-CN" sz="3200" dirty="0"/>
              <a:t>——switch case</a:t>
            </a:r>
            <a:r>
              <a:rPr lang="zh-CN" altLang="en-US" sz="3200" dirty="0"/>
              <a:t>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6BA021-E1FD-4B86-A94A-5728946A7A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47" t="14594" r="45024" b="8188"/>
          <a:stretch/>
        </p:blipFill>
        <p:spPr>
          <a:xfrm>
            <a:off x="605330" y="1214867"/>
            <a:ext cx="3915052" cy="55339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0B4171A-E92C-41BD-960C-C5D2C4633F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" t="5807" r="51727" b="67686"/>
          <a:stretch/>
        </p:blipFill>
        <p:spPr>
          <a:xfrm>
            <a:off x="5763255" y="1214867"/>
            <a:ext cx="5606774" cy="161336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4AB193D-9BAD-40FC-8404-DAC370DC6B72}"/>
              </a:ext>
            </a:extLst>
          </p:cNvPr>
          <p:cNvSpPr txBox="1"/>
          <p:nvPr/>
        </p:nvSpPr>
        <p:spPr>
          <a:xfrm>
            <a:off x="5763255" y="3400968"/>
            <a:ext cx="5879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不是每一个 </a:t>
            </a:r>
            <a:r>
              <a:rPr lang="en-US" altLang="zh-CN" dirty="0"/>
              <a:t>case </a:t>
            </a:r>
            <a:r>
              <a:rPr lang="zh-CN" altLang="en-US" dirty="0"/>
              <a:t>都需要包含 </a:t>
            </a:r>
            <a:r>
              <a:rPr lang="en-US" altLang="zh-CN" b="1" dirty="0"/>
              <a:t>break</a:t>
            </a:r>
            <a:r>
              <a:rPr lang="zh-CN" altLang="en-US" dirty="0"/>
              <a:t>。如果 </a:t>
            </a:r>
            <a:r>
              <a:rPr lang="en-US" altLang="zh-CN" dirty="0"/>
              <a:t>case </a:t>
            </a:r>
            <a:r>
              <a:rPr lang="zh-CN" altLang="en-US" dirty="0"/>
              <a:t>语句不包含 </a:t>
            </a:r>
            <a:r>
              <a:rPr lang="en-US" altLang="zh-CN" b="1" dirty="0"/>
              <a:t>break</a:t>
            </a:r>
            <a:r>
              <a:rPr lang="zh-CN" altLang="en-US" dirty="0"/>
              <a:t>，控制流将会 继续 后续的 </a:t>
            </a:r>
            <a:r>
              <a:rPr lang="en-US" altLang="zh-CN" dirty="0"/>
              <a:t>case</a:t>
            </a:r>
            <a:r>
              <a:rPr lang="zh-CN" altLang="en-US" dirty="0"/>
              <a:t>，直到遇到 </a:t>
            </a:r>
            <a:r>
              <a:rPr lang="en-US" altLang="zh-CN" dirty="0"/>
              <a:t>break </a:t>
            </a:r>
            <a:r>
              <a:rPr lang="zh-CN" altLang="en-US" dirty="0"/>
              <a:t>为止。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03C3F0-3E23-40DB-9667-65F0D6E6DDE0}"/>
              </a:ext>
            </a:extLst>
          </p:cNvPr>
          <p:cNvSpPr txBox="1"/>
          <p:nvPr/>
        </p:nvSpPr>
        <p:spPr>
          <a:xfrm>
            <a:off x="5763254" y="4324298"/>
            <a:ext cx="5879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 </a:t>
            </a:r>
            <a:r>
              <a:rPr lang="en-US" altLang="zh-CN" b="1" dirty="0"/>
              <a:t>switch</a:t>
            </a:r>
            <a:r>
              <a:rPr lang="en-US" altLang="zh-CN" dirty="0"/>
              <a:t> </a:t>
            </a:r>
            <a:r>
              <a:rPr lang="zh-CN" altLang="en-US" dirty="0"/>
              <a:t>语句可以有一个可选的 </a:t>
            </a:r>
            <a:r>
              <a:rPr lang="en-US" altLang="zh-CN" b="1" dirty="0"/>
              <a:t>default</a:t>
            </a:r>
            <a:r>
              <a:rPr lang="en-US" altLang="zh-CN" dirty="0"/>
              <a:t> case</a:t>
            </a:r>
            <a:r>
              <a:rPr lang="zh-CN" altLang="en-US" dirty="0"/>
              <a:t>，出现在 </a:t>
            </a:r>
            <a:r>
              <a:rPr lang="en-US" altLang="zh-CN" dirty="0"/>
              <a:t>switch </a:t>
            </a:r>
            <a:r>
              <a:rPr lang="zh-CN" altLang="en-US" dirty="0"/>
              <a:t>的结尾。</a:t>
            </a:r>
            <a:r>
              <a:rPr lang="en-US" altLang="zh-CN" dirty="0"/>
              <a:t>default case </a:t>
            </a:r>
            <a:r>
              <a:rPr lang="zh-CN" altLang="en-US" dirty="0"/>
              <a:t>可用于在上面所有 </a:t>
            </a:r>
            <a:r>
              <a:rPr lang="en-US" altLang="zh-CN" dirty="0"/>
              <a:t>case </a:t>
            </a:r>
            <a:r>
              <a:rPr lang="zh-CN" altLang="en-US" dirty="0"/>
              <a:t>都不为真时执行一个任务。</a:t>
            </a:r>
            <a:r>
              <a:rPr lang="en-US" altLang="zh-CN" dirty="0"/>
              <a:t>default case </a:t>
            </a:r>
            <a:r>
              <a:rPr lang="zh-CN" altLang="en-US" dirty="0"/>
              <a:t>中的 </a:t>
            </a:r>
            <a:r>
              <a:rPr lang="en-US" altLang="zh-CN" b="1" dirty="0"/>
              <a:t>break</a:t>
            </a:r>
            <a:r>
              <a:rPr lang="en-US" altLang="zh-CN" dirty="0"/>
              <a:t> </a:t>
            </a:r>
            <a:r>
              <a:rPr lang="zh-CN" altLang="en-US" dirty="0"/>
              <a:t>语句不是必需的。</a:t>
            </a:r>
          </a:p>
        </p:txBody>
      </p:sp>
    </p:spTree>
    <p:extLst>
      <p:ext uri="{BB962C8B-B14F-4D97-AF65-F5344CB8AC3E}">
        <p14:creationId xmlns:p14="http://schemas.microsoft.com/office/powerpoint/2010/main" val="3086547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C++</a:t>
            </a:r>
            <a:r>
              <a:rPr lang="zh-CN" altLang="en-US" sz="3200" dirty="0"/>
              <a:t>与</a:t>
            </a:r>
            <a:r>
              <a:rPr lang="en-US" altLang="zh-CN" sz="3200" dirty="0"/>
              <a:t>C</a:t>
            </a:r>
            <a:endParaRPr lang="zh-CN" altLang="en-US" sz="3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7A336C-BF33-40B0-9C3B-39F292912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34" y="1581150"/>
            <a:ext cx="8096250" cy="52768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9DB6924-B2BE-438B-850D-0C6BE0A499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8634" y="1336707"/>
            <a:ext cx="5676900" cy="22098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DC5BC28-13EE-49DA-AA50-E1F5EC497877}"/>
              </a:ext>
            </a:extLst>
          </p:cNvPr>
          <p:cNvSpPr txBox="1"/>
          <p:nvPr/>
        </p:nvSpPr>
        <p:spPr>
          <a:xfrm>
            <a:off x="904973" y="1112363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C++</a:t>
            </a:r>
            <a:r>
              <a:rPr lang="zh-CN" altLang="en-US" dirty="0"/>
              <a:t>的输入输出栗子</a:t>
            </a:r>
          </a:p>
        </p:txBody>
      </p:sp>
    </p:spTree>
    <p:extLst>
      <p:ext uri="{BB962C8B-B14F-4D97-AF65-F5344CB8AC3E}">
        <p14:creationId xmlns:p14="http://schemas.microsoft.com/office/powerpoint/2010/main" val="541171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附录</a:t>
            </a:r>
          </a:p>
        </p:txBody>
      </p:sp>
      <p:pic>
        <p:nvPicPr>
          <p:cNvPr id="2050" name="Picture 2" descr="电脑键盘示意图">
            <a:extLst>
              <a:ext uri="{FF2B5EF4-FFF2-40B4-BE49-F238E27FC236}">
                <a16:creationId xmlns:a16="http://schemas.microsoft.com/office/drawing/2014/main" id="{463FE12C-14E9-49F5-9548-6A388E95B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15" y="1576093"/>
            <a:ext cx="11352951" cy="358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495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AA1A24-CC38-45EB-93ED-51BA388C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5006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附录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0DE37B5-3BEF-4F49-BFAD-8BDF70689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546" y="989374"/>
            <a:ext cx="8346452" cy="543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929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1015</Words>
  <Application>Microsoft Office PowerPoint</Application>
  <PresentationFormat>宽屏</PresentationFormat>
  <Paragraphs>161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等线</vt:lpstr>
      <vt:lpstr>等线 Light</vt:lpstr>
      <vt:lpstr>Arial</vt:lpstr>
      <vt:lpstr>Times New Roman</vt:lpstr>
      <vt:lpstr>Office 主题​​</vt:lpstr>
      <vt:lpstr>C语言基础（一）</vt:lpstr>
      <vt:lpstr>内容</vt:lpstr>
      <vt:lpstr>我们的第一个程序</vt:lpstr>
      <vt:lpstr>我们的第一个程序</vt:lpstr>
      <vt:lpstr>常量与变量</vt:lpstr>
      <vt:lpstr>常量与变量</vt:lpstr>
      <vt:lpstr>常量与变量</vt:lpstr>
      <vt:lpstr>常量与变量</vt:lpstr>
      <vt:lpstr>输入输出</vt:lpstr>
      <vt:lpstr>输入输出</vt:lpstr>
      <vt:lpstr>输入输出</vt:lpstr>
      <vt:lpstr>输入输出</vt:lpstr>
      <vt:lpstr>运算符与表达式——算数运算符</vt:lpstr>
      <vt:lpstr>运算符与表达式——关系运算符</vt:lpstr>
      <vt:lpstr>运算符与表达式——逻辑运算符</vt:lpstr>
      <vt:lpstr>运算符与表达式——位运算符</vt:lpstr>
      <vt:lpstr>运算符与表达式——位运算符</vt:lpstr>
      <vt:lpstr>运算符与表达式——位运算符</vt:lpstr>
      <vt:lpstr>运算符与表达式——类型转换</vt:lpstr>
      <vt:lpstr>选择结构——if结构</vt:lpstr>
      <vt:lpstr>选择结构——if…else结构</vt:lpstr>
      <vt:lpstr>选择结构——if…else if…else结构</vt:lpstr>
      <vt:lpstr>选择结构——switch case结构</vt:lpstr>
      <vt:lpstr>选择结构——switch case结构</vt:lpstr>
      <vt:lpstr>C++与C</vt:lpstr>
      <vt:lpstr>附录</vt:lpstr>
      <vt:lpstr>附录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C语言基础（一）</dc:title>
  <dc:creator>家栋 李</dc:creator>
  <cp:lastModifiedBy>家栋 李</cp:lastModifiedBy>
  <cp:revision>23</cp:revision>
  <dcterms:created xsi:type="dcterms:W3CDTF">2020-10-10T00:47:32Z</dcterms:created>
  <dcterms:modified xsi:type="dcterms:W3CDTF">2020-10-10T10:16:55Z</dcterms:modified>
</cp:coreProperties>
</file>